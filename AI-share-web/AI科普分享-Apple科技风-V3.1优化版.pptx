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gif" ContentType="image/gif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9f18d0458246be" /><Relationship Type="http://schemas.openxmlformats.org/officeDocument/2006/relationships/extended-properties" Target="/docProps/app.xml" Id="Rc1407b1e8cc54ce4" /><Relationship Type="http://schemas.openxmlformats.org/officeDocument/2006/relationships/officeDocument" Target="/ppt/presentation.xml" Id="R02c9b53f607c43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d7ff5db56345d6"/>
  </p:sldMasterIdLst>
  <p:notesMasterIdLst>
    <p:notesMasterId xmlns:r="http://schemas.openxmlformats.org/officeDocument/2006/relationships" r:id="R8de4b58a8d094a56"/>
  </p:notesMasterIdLst>
  <p:sldIdLst>
    <p:sldId xmlns:r="http://schemas.openxmlformats.org/officeDocument/2006/relationships" id="256" r:id="R121df60964a94c08"/>
    <p:sldId xmlns:r="http://schemas.openxmlformats.org/officeDocument/2006/relationships" id="257" r:id="Rb16e6df283694580"/>
    <p:sldId xmlns:r="http://schemas.openxmlformats.org/officeDocument/2006/relationships" id="258" r:id="R050db1badb0043a9"/>
    <p:sldId xmlns:r="http://schemas.openxmlformats.org/officeDocument/2006/relationships" id="259" r:id="Rbef3bc711e7b4c57"/>
    <p:sldId xmlns:r="http://schemas.openxmlformats.org/officeDocument/2006/relationships" id="260" r:id="R09f7539292e242af"/>
    <p:sldId xmlns:r="http://schemas.openxmlformats.org/officeDocument/2006/relationships" id="261" r:id="R46448fc9f82846b2"/>
    <p:sldId xmlns:r="http://schemas.openxmlformats.org/officeDocument/2006/relationships" id="262" r:id="Rc3f224fd494d4cbe"/>
    <p:sldId xmlns:r="http://schemas.openxmlformats.org/officeDocument/2006/relationships" id="263" r:id="R1e6061086b684569"/>
    <p:sldId xmlns:r="http://schemas.openxmlformats.org/officeDocument/2006/relationships" id="264" r:id="Rd3b5aa35fa314ede"/>
    <p:sldId xmlns:r="http://schemas.openxmlformats.org/officeDocument/2006/relationships" id="265" r:id="R971eb549454c4a6d"/>
    <p:sldId xmlns:r="http://schemas.openxmlformats.org/officeDocument/2006/relationships" id="266" r:id="R25e0e672febb4241"/>
    <p:sldId xmlns:r="http://schemas.openxmlformats.org/officeDocument/2006/relationships" id="267" r:id="Ra99f8f7a6aeb4577"/>
    <p:sldId xmlns:r="http://schemas.openxmlformats.org/officeDocument/2006/relationships" id="268" r:id="Re2d803048c764dc0"/>
    <p:sldId xmlns:r="http://schemas.openxmlformats.org/officeDocument/2006/relationships" id="269" r:id="Rbed3b558a2764e92"/>
    <p:sldId xmlns:r="http://schemas.openxmlformats.org/officeDocument/2006/relationships" id="270" r:id="Re38a98a9d7624920"/>
    <p:sldId xmlns:r="http://schemas.openxmlformats.org/officeDocument/2006/relationships" id="271" r:id="R7bf535ef344e407f"/>
    <p:sldId xmlns:r="http://schemas.openxmlformats.org/officeDocument/2006/relationships" id="272" r:id="R002f714a0d454198"/>
    <p:sldId xmlns:r="http://schemas.openxmlformats.org/officeDocument/2006/relationships" id="273" r:id="Rfd74dc501c63432a"/>
    <p:sldId xmlns:r="http://schemas.openxmlformats.org/officeDocument/2006/relationships" id="274" r:id="R275f5d343bf84ba2"/>
    <p:sldId xmlns:r="http://schemas.openxmlformats.org/officeDocument/2006/relationships" id="275" r:id="Rbadbb563c8d9440c"/>
    <p:sldId xmlns:r="http://schemas.openxmlformats.org/officeDocument/2006/relationships" id="276" r:id="R606882fbd19141d8"/>
    <p:sldId xmlns:r="http://schemas.openxmlformats.org/officeDocument/2006/relationships" id="277" r:id="R0ab41b6dc62f4c28"/>
    <p:sldId xmlns:r="http://schemas.openxmlformats.org/officeDocument/2006/relationships" id="278" r:id="R81272754ac4d4023"/>
    <p:sldId xmlns:r="http://schemas.openxmlformats.org/officeDocument/2006/relationships" id="279" r:id="Rda7d4d4b6c7f4b26"/>
    <p:sldId xmlns:r="http://schemas.openxmlformats.org/officeDocument/2006/relationships" id="280" r:id="R12a23742f77b42f4"/>
    <p:sldId xmlns:r="http://schemas.openxmlformats.org/officeDocument/2006/relationships" id="281" r:id="R4e2664958f6d40dc"/>
    <p:sldId xmlns:r="http://schemas.openxmlformats.org/officeDocument/2006/relationships" id="282" r:id="Rc7f752cad5434306"/>
    <p:sldId xmlns:r="http://schemas.openxmlformats.org/officeDocument/2006/relationships" id="283" r:id="Ra3edf2bbd20a4c8e"/>
    <p:sldId xmlns:r="http://schemas.openxmlformats.org/officeDocument/2006/relationships" id="284" r:id="R2cf9bbee4db84f9a"/>
    <p:sldId xmlns:r="http://schemas.openxmlformats.org/officeDocument/2006/relationships" id="285" r:id="R38288e2f52ae4b62"/>
    <p:sldId xmlns:r="http://schemas.openxmlformats.org/officeDocument/2006/relationships" id="286" r:id="R4124a174bcbb424f"/>
    <p:sldId xmlns:r="http://schemas.openxmlformats.org/officeDocument/2006/relationships" id="287" r:id="R17a4392717ca40a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d7ff5db56345d6" /><Relationship Type="http://schemas.openxmlformats.org/officeDocument/2006/relationships/theme" Target="/ppt/theme/theme1.xml" Id="Rfe9c6b3705f9402e" /><Relationship Type="http://schemas.openxmlformats.org/officeDocument/2006/relationships/notesMaster" Target="/ppt/notesMasters/notesMaster1.xml" Id="R8de4b58a8d094a56" /><Relationship Type="http://schemas.openxmlformats.org/officeDocument/2006/relationships/presProps" Target="/ppt/presProps.xml" Id="R9693151e16344339" /><Relationship Type="http://schemas.openxmlformats.org/officeDocument/2006/relationships/viewProps" Target="/ppt/viewProps.xml" Id="R563c1da07d82477c" /><Relationship Type="http://schemas.openxmlformats.org/officeDocument/2006/relationships/tableStyles" Target="/ppt/tableStyles.xml" Id="Rc7d629358d3f4890" /><Relationship Type="http://schemas.openxmlformats.org/officeDocument/2006/relationships/slide" Target="/ppt/slides/slide1.xml" Id="R121df60964a94c08" /><Relationship Type="http://schemas.openxmlformats.org/officeDocument/2006/relationships/slide" Target="/ppt/slides/slide2.xml" Id="Rb16e6df283694580" /><Relationship Type="http://schemas.openxmlformats.org/officeDocument/2006/relationships/slide" Target="/ppt/slides/slide3.xml" Id="R050db1badb0043a9" /><Relationship Type="http://schemas.openxmlformats.org/officeDocument/2006/relationships/slide" Target="/ppt/slides/slide4.xml" Id="Rbef3bc711e7b4c57" /><Relationship Type="http://schemas.openxmlformats.org/officeDocument/2006/relationships/slide" Target="/ppt/slides/slide5.xml" Id="R09f7539292e242af" /><Relationship Type="http://schemas.openxmlformats.org/officeDocument/2006/relationships/slide" Target="/ppt/slides/slide6.xml" Id="R46448fc9f82846b2" /><Relationship Type="http://schemas.openxmlformats.org/officeDocument/2006/relationships/slide" Target="/ppt/slides/slide7.xml" Id="Rc3f224fd494d4cbe" /><Relationship Type="http://schemas.openxmlformats.org/officeDocument/2006/relationships/slide" Target="/ppt/slides/slide8.xml" Id="R1e6061086b684569" /><Relationship Type="http://schemas.openxmlformats.org/officeDocument/2006/relationships/slide" Target="/ppt/slides/slide9.xml" Id="Rd3b5aa35fa314ede" /><Relationship Type="http://schemas.openxmlformats.org/officeDocument/2006/relationships/slide" Target="/ppt/slides/slide10.xml" Id="R971eb549454c4a6d" /><Relationship Type="http://schemas.openxmlformats.org/officeDocument/2006/relationships/slide" Target="/ppt/slides/slide11.xml" Id="R25e0e672febb4241" /><Relationship Type="http://schemas.openxmlformats.org/officeDocument/2006/relationships/slide" Target="/ppt/slides/slide12.xml" Id="Ra99f8f7a6aeb4577" /><Relationship Type="http://schemas.openxmlformats.org/officeDocument/2006/relationships/slide" Target="/ppt/slides/slide13.xml" Id="Re2d803048c764dc0" /><Relationship Type="http://schemas.openxmlformats.org/officeDocument/2006/relationships/slide" Target="/ppt/slides/slide14.xml" Id="Rbed3b558a2764e92" /><Relationship Type="http://schemas.openxmlformats.org/officeDocument/2006/relationships/slide" Target="/ppt/slides/slide15.xml" Id="Re38a98a9d7624920" /><Relationship Type="http://schemas.openxmlformats.org/officeDocument/2006/relationships/slide" Target="/ppt/slides/slide16.xml" Id="R7bf535ef344e407f" /><Relationship Type="http://schemas.openxmlformats.org/officeDocument/2006/relationships/slide" Target="/ppt/slides/slide17.xml" Id="R002f714a0d454198" /><Relationship Type="http://schemas.openxmlformats.org/officeDocument/2006/relationships/slide" Target="/ppt/slides/slide18.xml" Id="Rfd74dc501c63432a" /><Relationship Type="http://schemas.openxmlformats.org/officeDocument/2006/relationships/slide" Target="/ppt/slides/slide19.xml" Id="R275f5d343bf84ba2" /><Relationship Type="http://schemas.openxmlformats.org/officeDocument/2006/relationships/slide" Target="/ppt/slides/slide20.xml" Id="Rbadbb563c8d9440c" /><Relationship Type="http://schemas.openxmlformats.org/officeDocument/2006/relationships/slide" Target="/ppt/slides/slide21.xml" Id="R606882fbd19141d8" /><Relationship Type="http://schemas.openxmlformats.org/officeDocument/2006/relationships/slide" Target="/ppt/slides/slide22.xml" Id="R0ab41b6dc62f4c28" /><Relationship Type="http://schemas.openxmlformats.org/officeDocument/2006/relationships/slide" Target="/ppt/slides/slide23.xml" Id="R81272754ac4d4023" /><Relationship Type="http://schemas.openxmlformats.org/officeDocument/2006/relationships/slide" Target="/ppt/slides/slide24.xml" Id="Rda7d4d4b6c7f4b26" /><Relationship Type="http://schemas.openxmlformats.org/officeDocument/2006/relationships/slide" Target="/ppt/slides/slide25.xml" Id="R12a23742f77b42f4" /><Relationship Type="http://schemas.openxmlformats.org/officeDocument/2006/relationships/slide" Target="/ppt/slides/slide26.xml" Id="R4e2664958f6d40dc" /><Relationship Type="http://schemas.openxmlformats.org/officeDocument/2006/relationships/slide" Target="/ppt/slides/slide27.xml" Id="Rc7f752cad5434306" /><Relationship Type="http://schemas.openxmlformats.org/officeDocument/2006/relationships/slide" Target="/ppt/slides/slide28.xml" Id="Ra3edf2bbd20a4c8e" /><Relationship Type="http://schemas.openxmlformats.org/officeDocument/2006/relationships/slide" Target="/ppt/slides/slide29.xml" Id="R2cf9bbee4db84f9a" /><Relationship Type="http://schemas.openxmlformats.org/officeDocument/2006/relationships/slide" Target="/ppt/slides/slide30.xml" Id="R38288e2f52ae4b62" /><Relationship Type="http://schemas.openxmlformats.org/officeDocument/2006/relationships/slide" Target="/ppt/slides/slide31.xml" Id="R4124a174bcbb424f" /><Relationship Type="http://schemas.openxmlformats.org/officeDocument/2006/relationships/slide" Target="/ppt/slides/slide32.xml" Id="R17a4392717ca40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54219d8871744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8883bc4d84405f" /><Relationship Type="http://schemas.openxmlformats.org/officeDocument/2006/relationships/notesMaster" Target="/ppt/notesMasters/notesMaster1.xml" Id="Rdf5d8f7fb2ce49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847655c8834371" /><Relationship Type="http://schemas.openxmlformats.org/officeDocument/2006/relationships/notesMaster" Target="/ppt/notesMasters/notesMaster1.xml" Id="R1267eb9bf6d64e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f1cc4a80cd47a3" /><Relationship Type="http://schemas.openxmlformats.org/officeDocument/2006/relationships/notesMaster" Target="/ppt/notesMasters/notesMaster1.xml" Id="Rbc813ec276074b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4dc85a9b7c4524" /><Relationship Type="http://schemas.openxmlformats.org/officeDocument/2006/relationships/notesMaster" Target="/ppt/notesMasters/notesMaster1.xml" Id="Rabd8ecfc20bb43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bd81b5ba8c4cb6" /><Relationship Type="http://schemas.openxmlformats.org/officeDocument/2006/relationships/notesMaster" Target="/ppt/notesMasters/notesMaster1.xml" Id="Ra0b8d73677ab47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ffe68e89cb44b5" /><Relationship Type="http://schemas.openxmlformats.org/officeDocument/2006/relationships/notesMaster" Target="/ppt/notesMasters/notesMaster1.xml" Id="R01da32211a634c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671c06208d4bbc" /><Relationship Type="http://schemas.openxmlformats.org/officeDocument/2006/relationships/notesMaster" Target="/ppt/notesMasters/notesMaster1.xml" Id="Rba02b1751f6146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e0afbdee3564631" /><Relationship Type="http://schemas.openxmlformats.org/officeDocument/2006/relationships/notesMaster" Target="/ppt/notesMasters/notesMaster1.xml" Id="Rc5d685cc86f047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812ebe10d64d4b" /><Relationship Type="http://schemas.openxmlformats.org/officeDocument/2006/relationships/notesMaster" Target="/ppt/notesMasters/notesMaster1.xml" Id="R6e2ee595de5f445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fd43ba189f425f" /><Relationship Type="http://schemas.openxmlformats.org/officeDocument/2006/relationships/notesMaster" Target="/ppt/notesMasters/notesMaster1.xml" Id="Rbe103d2fa97842c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f0f3b1d5a4e4916" /><Relationship Type="http://schemas.openxmlformats.org/officeDocument/2006/relationships/notesMaster" Target="/ppt/notesMasters/notesMaster1.xml" Id="Rdaf9b33b392046c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e592ded86134dab" /><Relationship Type="http://schemas.openxmlformats.org/officeDocument/2006/relationships/notesMaster" Target="/ppt/notesMasters/notesMaster1.xml" Id="R81123ec0b0dc480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5a9e72dc7fd480c" /><Relationship Type="http://schemas.openxmlformats.org/officeDocument/2006/relationships/notesMaster" Target="/ppt/notesMasters/notesMaster1.xml" Id="R9767d1313d364e6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e8704349ed54b58" /><Relationship Type="http://schemas.openxmlformats.org/officeDocument/2006/relationships/notesMaster" Target="/ppt/notesMasters/notesMaster1.xml" Id="R9356d082cb8c4e4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93d7c3d0bca4ae1" /><Relationship Type="http://schemas.openxmlformats.org/officeDocument/2006/relationships/notesMaster" Target="/ppt/notesMasters/notesMaster1.xml" Id="R64b0342fde984b8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0de757405534acf" /><Relationship Type="http://schemas.openxmlformats.org/officeDocument/2006/relationships/notesMaster" Target="/ppt/notesMasters/notesMaster1.xml" Id="R82c2eb39bff64ef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38e2f89a78b42aa" /><Relationship Type="http://schemas.openxmlformats.org/officeDocument/2006/relationships/notesMaster" Target="/ppt/notesMasters/notesMaster1.xml" Id="Re8f89090a29448a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aef5bb3fd304578" /><Relationship Type="http://schemas.openxmlformats.org/officeDocument/2006/relationships/notesMaster" Target="/ppt/notesMasters/notesMaster1.xml" Id="R2ee7698356f64ca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632b9bab8644c69" /><Relationship Type="http://schemas.openxmlformats.org/officeDocument/2006/relationships/notesMaster" Target="/ppt/notesMasters/notesMaster1.xml" Id="Rab6edee150c745d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33afd43ca324a40" /><Relationship Type="http://schemas.openxmlformats.org/officeDocument/2006/relationships/notesMaster" Target="/ppt/notesMasters/notesMaster1.xml" Id="Rbd56c45917824f5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aaad8db05b94488" /><Relationship Type="http://schemas.openxmlformats.org/officeDocument/2006/relationships/notesMaster" Target="/ppt/notesMasters/notesMaster1.xml" Id="Rd4181d4080814bc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3c25e93073a42d7" /><Relationship Type="http://schemas.openxmlformats.org/officeDocument/2006/relationships/notesMaster" Target="/ppt/notesMasters/notesMaster1.xml" Id="R55252cedf577406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a6cd5c609f8470c" /><Relationship Type="http://schemas.openxmlformats.org/officeDocument/2006/relationships/notesMaster" Target="/ppt/notesMasters/notesMaster1.xml" Id="Raef96d6e8fbb4e5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25ca7dc57bd4c24" /><Relationship Type="http://schemas.openxmlformats.org/officeDocument/2006/relationships/notesMaster" Target="/ppt/notesMasters/notesMaster1.xml" Id="R976e36ae2834450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da853c46c7844b9" /><Relationship Type="http://schemas.openxmlformats.org/officeDocument/2006/relationships/notesMaster" Target="/ppt/notesMasters/notesMaster1.xml" Id="R28312518fcf44ea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80753c557494203" /><Relationship Type="http://schemas.openxmlformats.org/officeDocument/2006/relationships/notesMaster" Target="/ppt/notesMasters/notesMaster1.xml" Id="R7cb67dd20672468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a8dc086cbcc4f87" /><Relationship Type="http://schemas.openxmlformats.org/officeDocument/2006/relationships/notesMaster" Target="/ppt/notesMasters/notesMaster1.xml" Id="Rd32d35a1e1a5447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02f7ab4ad7544eb" /><Relationship Type="http://schemas.openxmlformats.org/officeDocument/2006/relationships/notesMaster" Target="/ppt/notesMasters/notesMaster1.xml" Id="R485df5a4eede4e2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cc638234d2841ee" /><Relationship Type="http://schemas.openxmlformats.org/officeDocument/2006/relationships/notesMaster" Target="/ppt/notesMasters/notesMaster1.xml" Id="R8f7f5d7e790a421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0ecd17b8f10438a" /><Relationship Type="http://schemas.openxmlformats.org/officeDocument/2006/relationships/notesMaster" Target="/ppt/notesMasters/notesMaster1.xml" Id="R6795bc8af03441d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4c08bd831ef40f8" /><Relationship Type="http://schemas.openxmlformats.org/officeDocument/2006/relationships/notesMaster" Target="/ppt/notesMasters/notesMaster1.xml" Id="Rcae21824f42b424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832e965f5c34b05" /><Relationship Type="http://schemas.openxmlformats.org/officeDocument/2006/relationships/notesMaster" Target="/ppt/notesMasters/notesMaster1.xml" Id="R890e5ca163fd42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开场基调：不是技术课，也不是工具种草。今天帮大家建立一张地图：AI 是什么、工具怎么选、怎么让它真的帮自己做事。</a:t>
            </a:r>
          </a:p>
          <a:p xmlns:a="http://schemas.openxmlformats.org/drawingml/2006/main">
            <a:r>
              <a:t>动效建议：封面大标题淡入，右下角光线 GIF 自动循环。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这一页建立紧迫感但不制造焦虑。对非 IT 朋友来说，AI 最直观的变化不是模型参数，而是它从聊天框扩展到工作流程：写、找、做、改、交付。</a:t>
            </a:r>
          </a:p>
          <a:p xmlns:a="http://schemas.openxmlformats.org/drawingml/2006/main">
            <a:r>
              <a:t>动效建议：标题先出现，视觉对象随后淡入，最后逐条出现要点。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这里要安抚听众。大家不是“没赶上”，而是处在一个入口爆炸期。今天的任务是把入口重新分类，而不是追每一个热点。</a:t>
            </a:r>
          </a:p>
          <a:p xmlns:a="http://schemas.openxmlformats.org/drawingml/2006/main">
            <a:r>
              <a:t>动效建议：标题先出现，视觉对象随后淡入，最后逐条出现要点。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告诉听众今天的边界：不是训练工程师，而是建立普通人可用的 AI 工作方式。后面三大板块全部围绕这三个问题展开。</a:t>
            </a:r>
          </a:p>
          <a:p xmlns:a="http://schemas.openxmlformats.org/drawingml/2006/main">
            <a:r>
              <a:t>动效建议：标题先出现，视觉对象随后淡入，最后逐条出现要点。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进入第一板块。先把 AI 的关键概念翻译成人话：为什么爆发、怎么工作、哪些词必须懂。</a:t>
            </a:r>
          </a:p>
          <a:p xmlns:a="http://schemas.openxmlformats.org/drawingml/2006/main">
            <a:r>
              <a:t>动效建议：章节页用淡入 + 轻微缩放，作为发布会式转场。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用三阶段解释为什么今天的 AI 和过去不同。早期 AI 多是单点识别，现在的 AI 更像一个带工具箱的助理。</a:t>
            </a:r>
          </a:p>
          <a:p xmlns:a="http://schemas.openxmlformats.org/drawingml/2006/main">
            <a:r>
              <a:t>动效建议：标题先出现，视觉对象随后淡入，最后逐条出现要点。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这里不要讲太技术，强调四件事同时成熟。可补一句：算力已经变成国家和企业竞争的一部分，这也是为什么大家会听到芯片禁运、显卡涨价、数据中心扩建。</a:t>
            </a:r>
          </a:p>
          <a:p xmlns:a="http://schemas.openxmlformats.org/drawingml/2006/main">
            <a:r>
              <a:t>参考：Stanford AI Index Report: https://aiindex.stanford.edu/report/；McKinsey State of AI: https://www.mckinsey.com/capabilities/quantumblack/our-insights/the-state-of-ai；Google DeepMind / Gemini: https://blog.google/technology/google-deepmind/</a:t>
            </a:r>
          </a:p>
          <a:p xmlns:a="http://schemas.openxmlformats.org/drawingml/2006/main">
            <a:r>
              <a:t>动效建议：标题先出现，视觉对象随后淡入，最后逐条出现要点。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时间线只抓几个大众能理解的节点，不做完整技术史。重点是能力边界从“会某件事”变成“能协助完成很多事”。</a:t>
            </a:r>
          </a:p>
          <a:p xmlns:a="http://schemas.openxmlformats.org/drawingml/2006/main">
            <a:r>
              <a:t>动效建议：标题先出现，视觉对象随后淡入，最后逐条出现要点。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这是全场最关键的认知页。不要把 AI 神化，它并不是内置真理库。它的强大来自统计预测、训练数据和上下文组合。</a:t>
            </a:r>
          </a:p>
          <a:p xmlns:a="http://schemas.openxmlformats.org/drawingml/2006/main">
            <a:r>
              <a:t>动效建议：标题先出现，视觉对象随后淡入，最后逐条出现要点。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这一页重写为 Part 01 的概念中枢。建议用 6 个词讲透：模型是能力体，参数是能力的压缩形态，Token 是阅读单位，上下文是临时桌面，Prompt 是任务说明，推理是现场生成答案。幻觉来自生成机制，所以必须核验事实。这里不要求大家背定义，而是建立一套能继续学习的词典。</a:t>
            </a:r>
          </a:p>
          <a:p xmlns:a="http://schemas.openxmlformats.org/drawingml/2006/main">
            <a:r>
              <a:t>动效建议：标题先出现，视觉对象随后淡入，最后逐条出现要点。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 Prompt 从玄学拉回任务说明。普通人不需要背神奇咒语，只需要像交代同事一样，把目标、材料、边界和交付格式讲清楚。</a:t>
            </a:r>
          </a:p>
          <a:p xmlns:a="http://schemas.openxmlformats.org/drawingml/2006/main">
            <a:r>
              <a:t>动效建议：标题先出现，视觉对象随后淡入，最后逐条出现要点。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这个风险必须讲清楚。幻觉不是 AI 故意骗人，而是生成机制的副作用。使用上要建立核验习惯：让它给来源、指出不确定、列检查项。</a:t>
            </a:r>
          </a:p>
          <a:p xmlns:a="http://schemas.openxmlformats.org/drawingml/2006/main">
            <a:r>
              <a:t>动效建议：标题先出现，视觉对象随后淡入，最后逐条出现要点。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这页把后面 Agent 和实战埋下伏笔。RAG 降低胡编，多模态扩大输入输出，代码能力让普通人能做自己的小工具。</a:t>
            </a:r>
          </a:p>
          <a:p xmlns:a="http://schemas.openxmlformats.org/drawingml/2006/main">
            <a:r>
              <a:t>动效建议：标题先出现，视觉对象随后淡入，最后逐条出现要点。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进入第二板块。工具不是越强越好，而是越适合越好。这一部分帮助大家建立选择框架。</a:t>
            </a:r>
          </a:p>
          <a:p xmlns:a="http://schemas.openxmlformats.org/drawingml/2006/main">
            <a:r>
              <a:t>动效建议：章节页用淡入 + 轻微缩放，作为发布会式转场。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帮助听众摆脱“哪个 AI 最强”的问题。真正实用的问题是：我要解决什么任务？我有哪些材料？结果怎么验证？</a:t>
            </a:r>
          </a:p>
          <a:p xmlns:a="http://schemas.openxmlformats.org/drawingml/2006/main">
            <a:r>
              <a:t>动效建议：标题先出现，视觉对象随后淡入，最后逐条出现要点。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这页不要给绝对排名，因为工具更新很快。给选择维度更稳定：联网、文件、长上下文、中文、代码、成本、生态。</a:t>
            </a:r>
          </a:p>
          <a:p xmlns:a="http://schemas.openxmlformats.org/drawingml/2006/main">
            <a:r>
              <a:t>动效建议：标题先出现，视觉对象随后淡入，最后逐条出现要点。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非 IT 朋友可以把 Agent 理解成“会用电脑的 AI 助理”。它不只是聊天，而是能打开网页、读文件、写脚本、执行流程。</a:t>
            </a:r>
          </a:p>
          <a:p xmlns:a="http://schemas.openxmlformats.org/drawingml/2006/main">
            <a:r>
              <a:t>动效建议：标题先出现，视觉对象随后淡入，最后逐条出现要点。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保留用户点名的工具。讲法不要陷入具体产品细节，而是抽象出 Agent 的共同能力：观察环境、拆任务、调用工具、执行、反馈。</a:t>
            </a:r>
          </a:p>
          <a:p xmlns:a="http://schemas.openxmlformats.org/drawingml/2006/main">
            <a:r>
              <a:t>动效建议：标题先出现，视觉对象随后淡入，最后逐条出现要点。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这页只讲类比：这些东西像插座、遥控器、说明书。AI 本身会思考，但要真正做事，必须能安全地连接外部工具。</a:t>
            </a:r>
          </a:p>
          <a:p xmlns:a="http://schemas.openxmlformats.org/drawingml/2006/main">
            <a:r>
              <a:t>参考：Model Context Protocol: https://modelcontextprotocol.io/</a:t>
            </a:r>
          </a:p>
          <a:p xmlns:a="http://schemas.openxmlformats.org/drawingml/2006/main">
            <a:r>
              <a:t>动效建议：标题先出现，视觉对象随后淡入，最后逐条出现要点。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这页把工具选择落到普通人日常：文档、表格、搜索、整理、生成、自动化。最好的切入点是找一件你每周都会重复做的事。</a:t>
            </a:r>
          </a:p>
          <a:p xmlns:a="http://schemas.openxmlformats.org/drawingml/2006/main">
            <a:r>
              <a:t>动效建议：标题先出现，视觉对象随后淡入，最后逐条出现要点。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进入第三板块。前面讲认知和工具，现在进入真实案例和实战，把 AI 变成自己的工作流。</a:t>
            </a:r>
          </a:p>
          <a:p xmlns:a="http://schemas.openxmlformats.org/drawingml/2006/main">
            <a:r>
              <a:t>动效建议：章节页用淡入 + 轻微缩放，作为发布会式转场。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保留真实案例，但表述成流程自动化和准备工作。重点是 AI 帮你把临场操作提前拆解，而不是鼓励绕过平台规则。</a:t>
            </a:r>
          </a:p>
          <a:p xmlns:a="http://schemas.openxmlformats.org/drawingml/2006/main">
            <a:r>
              <a:t>动效建议：标题先出现，视觉对象随后淡入，最后逐条出现要点。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这页要注意合规表达。不要讲成绕过付费或破解功能，而是讲成学习公开逻辑、构建本地自用工具。强调尊重版权、协议和隐私。</a:t>
            </a:r>
          </a:p>
          <a:p xmlns:a="http://schemas.openxmlformats.org/drawingml/2006/main">
            <a:r>
              <a:t>动效建议：标题先出现，视觉对象随后淡入，最后逐条出现要点。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现场可以准备一个文件夹：截图、PDF、表格、文本混在一起。让 AI 先扫描文件名，再提出分类规则，最后执行整理并生成 README。</a:t>
            </a:r>
          </a:p>
          <a:p xmlns:a="http://schemas.openxmlformats.org/drawingml/2006/main">
            <a:r>
              <a:t>动效建议：标题先出现，视觉对象随后淡入，最后逐条出现要点。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这个实战适合非 IT 朋友理解：从一个真实需求出发，不要求大家懂代码，只看 AI 如何把需求变成界面和功能。</a:t>
            </a:r>
          </a:p>
          <a:p xmlns:a="http://schemas.openxmlformats.org/drawingml/2006/main">
            <a:r>
              <a:t>动效建议：标题先出现，视觉对象随后淡入，最后逐条出现要点。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这页作为实战后的方法总结。普通人用 AI 的关键不是 Prompt 花哨，而是任务说明像项目 brief：目标清楚、材料充分、边界明确、验收可查。</a:t>
            </a:r>
          </a:p>
          <a:p xmlns:a="http://schemas.openxmlformats.org/drawingml/2006/main">
            <a:r>
              <a:t>动效建议：标题先出现，视觉对象随后淡入，最后逐条出现要点。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收尾把行动感拉回来：AI 入门不是收藏 100 个工具，而是找到一个真实问题，用 AI 做一次完整闭环。</a:t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Stanford AI Index Report: https://aiindex.stanford.edu/report/</a:t>
            </a:r>
          </a:p>
          <a:p xmlns:a="http://schemas.openxmlformats.org/drawingml/2006/main">
            <a:r>
              <a:t>McKinsey State of AI: https://www.mckinsey.com/capabilities/quantumblack/our-insights/the-state-of-ai</a:t>
            </a:r>
          </a:p>
          <a:p xmlns:a="http://schemas.openxmlformats.org/drawingml/2006/main">
            <a:r>
              <a:t>OpenAI Codex: https://openai.com/index/introducing-codex/</a:t>
            </a:r>
          </a:p>
          <a:p xmlns:a="http://schemas.openxmlformats.org/drawingml/2006/main">
            <a:r>
              <a:t>Anthropic Claude Code: https://docs.anthropic.com/en/docs/claude-code/overview</a:t>
            </a:r>
          </a:p>
          <a:p xmlns:a="http://schemas.openxmlformats.org/drawingml/2006/main">
            <a:r>
              <a:t>Model Context Protocol: https://modelcontextprotocol.io/</a:t>
            </a:r>
          </a:p>
          <a:p xmlns:a="http://schemas.openxmlformats.org/drawingml/2006/main">
            <a:r>
              <a:t>Google DeepMind / Gemini: https://blog.google/technology/google-deepmind/</a:t>
            </a:r>
          </a:p>
          <a:p xmlns:a="http://schemas.openxmlformats.org/drawingml/2006/main">
            <a:r>
              <a:t>动效建议：标题先出现，视觉对象随后淡入，最后逐条出现要点。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Q&amp;A 或课后查阅：不要现场全部讲完，可以作为密度补充。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按任务类型列工具，避免工具名散落在主线里。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给听众可以直接复用的模板。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 Plan / Ask / Act / Verify / Report 作为可迁移流程。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风险页用于提醒隐私、版权、权限、成本和幻觉。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e83a2c032641c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6c59cf4dec14ab8" /><Relationship Type="http://schemas.openxmlformats.org/officeDocument/2006/relationships/slideLayout" Target="/ppt/slideLayouts/slideLayout2.xml" Id="R3f8259829eb44e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8259829eb44e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31623420d6454d" /><Relationship Type="http://schemas.openxmlformats.org/officeDocument/2006/relationships/image" Target="/ppt/media/image.png" Id="R47bad74cdee24444" /><Relationship Type="http://schemas.openxmlformats.org/officeDocument/2006/relationships/image" Target="/ppt/media/image.gif" Id="Re2021c816bc0426f" /><Relationship Type="http://schemas.openxmlformats.org/officeDocument/2006/relationships/notesSlide" Target="/ppt/notesSlides/notesSlide1.xml" Id="R6d0caa31edca44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eb936d6c5e4c06" /><Relationship Type="http://schemas.openxmlformats.org/officeDocument/2006/relationships/image" Target="/ppt/media/image2.png" Id="R7c21c4b52f274181" /><Relationship Type="http://schemas.openxmlformats.org/officeDocument/2006/relationships/image" Target="/ppt/media/image.svg" Id="R369dfc40daf24ed4" /><Relationship Type="http://schemas.openxmlformats.org/officeDocument/2006/relationships/image" Target="/ppt/media/image3.png" Id="R800e2c0669c54945" /><Relationship Type="http://schemas.openxmlformats.org/officeDocument/2006/relationships/notesSlide" Target="/ppt/notesSlides/notesSlide2.xml" Id="R09c0081d3d3643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80cab68d6a46b8" /><Relationship Type="http://schemas.openxmlformats.org/officeDocument/2006/relationships/image" Target="/ppt/media/image4.png" Id="R7f8a7ce5a5fe4d36" /><Relationship Type="http://schemas.openxmlformats.org/officeDocument/2006/relationships/image" Target="/ppt/media/image2.svg" Id="R6d7320dfe6114c40" /><Relationship Type="http://schemas.openxmlformats.org/officeDocument/2006/relationships/image" Target="/ppt/media/image5.png" Id="R9ac875764fdf472b" /><Relationship Type="http://schemas.openxmlformats.org/officeDocument/2006/relationships/notesSlide" Target="/ppt/notesSlides/notesSlide3.xml" Id="R070f6fa3c3fa4d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7e2738f9ad49ac" /><Relationship Type="http://schemas.openxmlformats.org/officeDocument/2006/relationships/image" Target="/ppt/media/image6.png" Id="R45bddbc689874a33" /><Relationship Type="http://schemas.openxmlformats.org/officeDocument/2006/relationships/image" Target="/ppt/media/image3.svg" Id="R5399c53a86914084" /><Relationship Type="http://schemas.openxmlformats.org/officeDocument/2006/relationships/image" Target="/ppt/media/image7.png" Id="Ra13adf5d4a144826" /><Relationship Type="http://schemas.openxmlformats.org/officeDocument/2006/relationships/notesSlide" Target="/ppt/notesSlides/notesSlide4.xml" Id="R87e7a209bcc246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47f5b35669479f" /><Relationship Type="http://schemas.openxmlformats.org/officeDocument/2006/relationships/image" Target="/ppt/media/image8.png" Id="R54ef6b1d69634828" /><Relationship Type="http://schemas.openxmlformats.org/officeDocument/2006/relationships/image" Target="/ppt/media/image4.svg" Id="Re4d95de2d2064c0f" /><Relationship Type="http://schemas.openxmlformats.org/officeDocument/2006/relationships/image" Target="/ppt/media/image9.png" Id="Rb93b58050f774ed3" /><Relationship Type="http://schemas.openxmlformats.org/officeDocument/2006/relationships/image" Target="/ppt/media/image2.gif" Id="R99eacc65fd0041df" /><Relationship Type="http://schemas.openxmlformats.org/officeDocument/2006/relationships/notesSlide" Target="/ppt/notesSlides/notesSlide5.xml" Id="Re22619530b4c4c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56646b75834855" /><Relationship Type="http://schemas.openxmlformats.org/officeDocument/2006/relationships/image" Target="/ppt/media/image10.png" Id="Ref012d14141e40d5" /><Relationship Type="http://schemas.openxmlformats.org/officeDocument/2006/relationships/image" Target="/ppt/media/image5.svg" Id="R4db1e8d14d654a69" /><Relationship Type="http://schemas.openxmlformats.org/officeDocument/2006/relationships/image" Target="/ppt/media/image11.png" Id="Rc7e1bb5fc60040f9" /><Relationship Type="http://schemas.openxmlformats.org/officeDocument/2006/relationships/notesSlide" Target="/ppt/notesSlides/notesSlide6.xml" Id="R587be78a6ceb44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d6141190ec4582" /><Relationship Type="http://schemas.openxmlformats.org/officeDocument/2006/relationships/image" Target="/ppt/media/image12.png" Id="R8b2f2a66a5914e30" /><Relationship Type="http://schemas.openxmlformats.org/officeDocument/2006/relationships/image" Target="/ppt/media/image6.svg" Id="R2d09766c826845bc" /><Relationship Type="http://schemas.openxmlformats.org/officeDocument/2006/relationships/image" Target="/ppt/media/image13.png" Id="R97b544903a3e438c" /><Relationship Type="http://schemas.openxmlformats.org/officeDocument/2006/relationships/notesSlide" Target="/ppt/notesSlides/notesSlide7.xml" Id="R192ca3de6a4741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09e2b1cb654b40" /><Relationship Type="http://schemas.openxmlformats.org/officeDocument/2006/relationships/image" Target="/ppt/media/image14.png" Id="R4a082113af424407" /><Relationship Type="http://schemas.openxmlformats.org/officeDocument/2006/relationships/image" Target="/ppt/media/image7.svg" Id="R2451fd354c7a4318" /><Relationship Type="http://schemas.openxmlformats.org/officeDocument/2006/relationships/image" Target="/ppt/media/image15.png" Id="R0cb328c7f2744588" /><Relationship Type="http://schemas.openxmlformats.org/officeDocument/2006/relationships/notesSlide" Target="/ppt/notesSlides/notesSlide8.xml" Id="Rd5ab0e939caf41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1ce919e13a4ac5" /><Relationship Type="http://schemas.openxmlformats.org/officeDocument/2006/relationships/image" Target="/ppt/media/image16.png" Id="Rdf6fac313fd14198" /><Relationship Type="http://schemas.openxmlformats.org/officeDocument/2006/relationships/image" Target="/ppt/media/image8.svg" Id="Rc11954930b2a4043" /><Relationship Type="http://schemas.openxmlformats.org/officeDocument/2006/relationships/image" Target="/ppt/media/image17.png" Id="R774d34ff0a2540e9" /><Relationship Type="http://schemas.openxmlformats.org/officeDocument/2006/relationships/notesSlide" Target="/ppt/notesSlides/notesSlide9.xml" Id="R39bc39f81f144c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24f617dff94ce6" /><Relationship Type="http://schemas.openxmlformats.org/officeDocument/2006/relationships/image" Target="/ppt/media/image18.png" Id="Rf522ca8fde1c428e" /><Relationship Type="http://schemas.openxmlformats.org/officeDocument/2006/relationships/image" Target="/ppt/media/image9.svg" Id="Rbe2ce1ade3294d7f" /><Relationship Type="http://schemas.openxmlformats.org/officeDocument/2006/relationships/image" Target="/ppt/media/image19.png" Id="Rb9af63bd2bf74bb5" /><Relationship Type="http://schemas.openxmlformats.org/officeDocument/2006/relationships/notesSlide" Target="/ppt/notesSlides/notesSlide10.xml" Id="Rbdb881ece322457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d96eba5b784f4c" /><Relationship Type="http://schemas.openxmlformats.org/officeDocument/2006/relationships/image" Target="/ppt/media/image20.png" Id="R07a94bdf5a2a46a2" /><Relationship Type="http://schemas.openxmlformats.org/officeDocument/2006/relationships/image" Target="/ppt/media/image10.svg" Id="R735ac16a3532477f" /><Relationship Type="http://schemas.openxmlformats.org/officeDocument/2006/relationships/image" Target="/ppt/media/image21.png" Id="Re1c577d042a44e88" /><Relationship Type="http://schemas.openxmlformats.org/officeDocument/2006/relationships/notesSlide" Target="/ppt/notesSlides/notesSlide11.xml" Id="Rb565023fe22a4b1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9eff2136924e2d" /><Relationship Type="http://schemas.openxmlformats.org/officeDocument/2006/relationships/image" Target="/ppt/media/image22.png" Id="R092606f88d7b41a0" /><Relationship Type="http://schemas.openxmlformats.org/officeDocument/2006/relationships/image" Target="/ppt/media/image11.svg" Id="Rcd8319d663524ee8" /><Relationship Type="http://schemas.openxmlformats.org/officeDocument/2006/relationships/image" Target="/ppt/media/image23.png" Id="R0c22ca462454417c" /><Relationship Type="http://schemas.openxmlformats.org/officeDocument/2006/relationships/notesSlide" Target="/ppt/notesSlides/notesSlide12.xml" Id="R923180e169d04dd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4b752a35954541" /><Relationship Type="http://schemas.openxmlformats.org/officeDocument/2006/relationships/image" Target="/ppt/media/image24.png" Id="R0e70cf0f1dab4970" /><Relationship Type="http://schemas.openxmlformats.org/officeDocument/2006/relationships/image" Target="/ppt/media/image12.svg" Id="Rab686d018e2d41d1" /><Relationship Type="http://schemas.openxmlformats.org/officeDocument/2006/relationships/image" Target="/ppt/media/image25.png" Id="R09f0a0e6b7894a8a" /><Relationship Type="http://schemas.openxmlformats.org/officeDocument/2006/relationships/notesSlide" Target="/ppt/notesSlides/notesSlide13.xml" Id="R5a4caedab1fc456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95f9555c014e49" /><Relationship Type="http://schemas.openxmlformats.org/officeDocument/2006/relationships/image" Target="/ppt/media/image26.png" Id="R167db2e84a434d72" /><Relationship Type="http://schemas.openxmlformats.org/officeDocument/2006/relationships/image" Target="/ppt/media/image13.svg" Id="Ra223900197c642aa" /><Relationship Type="http://schemas.openxmlformats.org/officeDocument/2006/relationships/image" Target="/ppt/media/image27.png" Id="R87af240be8894bf5" /><Relationship Type="http://schemas.openxmlformats.org/officeDocument/2006/relationships/image" Target="/ppt/media/image3.gif" Id="R4309fdcc365b4f77" /><Relationship Type="http://schemas.openxmlformats.org/officeDocument/2006/relationships/notesSlide" Target="/ppt/notesSlides/notesSlide14.xml" Id="R78c917edfe524ab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03af6f042441b9" /><Relationship Type="http://schemas.openxmlformats.org/officeDocument/2006/relationships/image" Target="/ppt/media/image28.png" Id="Rb26a7214b8834ac5" /><Relationship Type="http://schemas.openxmlformats.org/officeDocument/2006/relationships/image" Target="/ppt/media/image14.svg" Id="Rdfe6dd2907464ce4" /><Relationship Type="http://schemas.openxmlformats.org/officeDocument/2006/relationships/image" Target="/ppt/media/image29.png" Id="R2819944765f24d93" /><Relationship Type="http://schemas.openxmlformats.org/officeDocument/2006/relationships/notesSlide" Target="/ppt/notesSlides/notesSlide15.xml" Id="R316b5180de85485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c047e88f2449e9" /><Relationship Type="http://schemas.openxmlformats.org/officeDocument/2006/relationships/image" Target="/ppt/media/image30.png" Id="Rdd582120b67640c9" /><Relationship Type="http://schemas.openxmlformats.org/officeDocument/2006/relationships/image" Target="/ppt/media/image15.svg" Id="R50133e4d56a54f11" /><Relationship Type="http://schemas.openxmlformats.org/officeDocument/2006/relationships/image" Target="/ppt/media/image31.png" Id="R4528eb129da8422b" /><Relationship Type="http://schemas.openxmlformats.org/officeDocument/2006/relationships/notesSlide" Target="/ppt/notesSlides/notesSlide16.xml" Id="R81c7f4c9bd76488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094214cdee47f0" /><Relationship Type="http://schemas.openxmlformats.org/officeDocument/2006/relationships/image" Target="/ppt/media/image32.png" Id="R7b679e21d0b84567" /><Relationship Type="http://schemas.openxmlformats.org/officeDocument/2006/relationships/image" Target="/ppt/media/image16.svg" Id="R4452083b791f4659" /><Relationship Type="http://schemas.openxmlformats.org/officeDocument/2006/relationships/image" Target="/ppt/media/image33.png" Id="Ra5a3b6faa6dd456d" /><Relationship Type="http://schemas.openxmlformats.org/officeDocument/2006/relationships/notesSlide" Target="/ppt/notesSlides/notesSlide17.xml" Id="Rdb9dd4384ed8481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5b32b82fc142b6" /><Relationship Type="http://schemas.openxmlformats.org/officeDocument/2006/relationships/image" Target="/ppt/media/image34.png" Id="R28c5bb25cb3142ee" /><Relationship Type="http://schemas.openxmlformats.org/officeDocument/2006/relationships/image" Target="/ppt/media/image17.svg" Id="Rb885d35b5e614404" /><Relationship Type="http://schemas.openxmlformats.org/officeDocument/2006/relationships/image" Target="/ppt/media/image35.png" Id="Rf2f48a03792d4ba5" /><Relationship Type="http://schemas.openxmlformats.org/officeDocument/2006/relationships/notesSlide" Target="/ppt/notesSlides/notesSlide18.xml" Id="Rcc0505d65689449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d6de1f94294b7f" /><Relationship Type="http://schemas.openxmlformats.org/officeDocument/2006/relationships/image" Target="/ppt/media/image36.png" Id="Rf93c9267e1ad4c5f" /><Relationship Type="http://schemas.openxmlformats.org/officeDocument/2006/relationships/image" Target="/ppt/media/image18.svg" Id="Ra4ff52f885aa4bcd" /><Relationship Type="http://schemas.openxmlformats.org/officeDocument/2006/relationships/image" Target="/ppt/media/image37.png" Id="R6b840d0159a6422c" /><Relationship Type="http://schemas.openxmlformats.org/officeDocument/2006/relationships/notesSlide" Target="/ppt/notesSlides/notesSlide19.xml" Id="Rac0f4f91829544a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1a10fa50f04fb8" /><Relationship Type="http://schemas.openxmlformats.org/officeDocument/2006/relationships/image" Target="/ppt/media/image38.png" Id="Rebac672bd9e143b7" /><Relationship Type="http://schemas.openxmlformats.org/officeDocument/2006/relationships/image" Target="/ppt/media/image19.svg" Id="R0653112332d64ee2" /><Relationship Type="http://schemas.openxmlformats.org/officeDocument/2006/relationships/image" Target="/ppt/media/image39.png" Id="Ra6f4580ab3d041d4" /><Relationship Type="http://schemas.openxmlformats.org/officeDocument/2006/relationships/notesSlide" Target="/ppt/notesSlides/notesSlide20.xml" Id="Rd42e8df7091947f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df100af54c4fe3" /><Relationship Type="http://schemas.openxmlformats.org/officeDocument/2006/relationships/image" Target="/ppt/media/image40.png" Id="R6b7b14cd3be54bfa" /><Relationship Type="http://schemas.openxmlformats.org/officeDocument/2006/relationships/image" Target="/ppt/media/image20.svg" Id="R5cc4e329d944443d" /><Relationship Type="http://schemas.openxmlformats.org/officeDocument/2006/relationships/image" Target="/ppt/media/image41.png" Id="Rf6209d6f1ac24766" /><Relationship Type="http://schemas.openxmlformats.org/officeDocument/2006/relationships/image" Target="/ppt/media/image4.gif" Id="R1544c68553334091" /><Relationship Type="http://schemas.openxmlformats.org/officeDocument/2006/relationships/notesSlide" Target="/ppt/notesSlides/notesSlide21.xml" Id="R48009266cf4548e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912289f8944b06" /><Relationship Type="http://schemas.openxmlformats.org/officeDocument/2006/relationships/image" Target="/ppt/media/image42.png" Id="Redfc1d5dfbab4400" /><Relationship Type="http://schemas.openxmlformats.org/officeDocument/2006/relationships/image" Target="/ppt/media/image21.svg" Id="R1a8b2d74a00f436f" /><Relationship Type="http://schemas.openxmlformats.org/officeDocument/2006/relationships/image" Target="/ppt/media/image43.png" Id="R4ac6c6ceae8a48e4" /><Relationship Type="http://schemas.openxmlformats.org/officeDocument/2006/relationships/notesSlide" Target="/ppt/notesSlides/notesSlide22.xml" Id="Rd90471dd3d5c493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03cb2452754383" /><Relationship Type="http://schemas.openxmlformats.org/officeDocument/2006/relationships/image" Target="/ppt/media/image44.png" Id="Re4281fab5f7b4d74" /><Relationship Type="http://schemas.openxmlformats.org/officeDocument/2006/relationships/image" Target="/ppt/media/image22.svg" Id="Rab2c3f887d6a424c" /><Relationship Type="http://schemas.openxmlformats.org/officeDocument/2006/relationships/image" Target="/ppt/media/image45.png" Id="R89128d975280459a" /><Relationship Type="http://schemas.openxmlformats.org/officeDocument/2006/relationships/notesSlide" Target="/ppt/notesSlides/notesSlide23.xml" Id="R2cc97b5fb051448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8fde4e103b4639" /><Relationship Type="http://schemas.openxmlformats.org/officeDocument/2006/relationships/image" Target="/ppt/media/image46.png" Id="R1268672b473f41d8" /><Relationship Type="http://schemas.openxmlformats.org/officeDocument/2006/relationships/image" Target="/ppt/media/image23.svg" Id="R8ec9b3f9f498492f" /><Relationship Type="http://schemas.openxmlformats.org/officeDocument/2006/relationships/image" Target="/ppt/media/image47.png" Id="R086338fe8a064d75" /><Relationship Type="http://schemas.openxmlformats.org/officeDocument/2006/relationships/notesSlide" Target="/ppt/notesSlides/notesSlide24.xml" Id="Rffeb957867d54b3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d3771bdc2d4baf" /><Relationship Type="http://schemas.openxmlformats.org/officeDocument/2006/relationships/image" Target="/ppt/media/image48.png" Id="Re1abaf9852d042b8" /><Relationship Type="http://schemas.openxmlformats.org/officeDocument/2006/relationships/image" Target="/ppt/media/image24.svg" Id="Rad63266f25644228" /><Relationship Type="http://schemas.openxmlformats.org/officeDocument/2006/relationships/image" Target="/ppt/media/image49.png" Id="R45a7ef2c5de74fc2" /><Relationship Type="http://schemas.openxmlformats.org/officeDocument/2006/relationships/notesSlide" Target="/ppt/notesSlides/notesSlide25.xml" Id="R9302ab2ddbc8439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63733babe344b7" /><Relationship Type="http://schemas.openxmlformats.org/officeDocument/2006/relationships/image" Target="/ppt/media/image50.png" Id="R35991d7ef4fc41c2" /><Relationship Type="http://schemas.openxmlformats.org/officeDocument/2006/relationships/image" Target="/ppt/media/image25.svg" Id="Rbe335aecc8204407" /><Relationship Type="http://schemas.openxmlformats.org/officeDocument/2006/relationships/image" Target="/ppt/media/image51.png" Id="Rfefb09b9520d461c" /><Relationship Type="http://schemas.openxmlformats.org/officeDocument/2006/relationships/notesSlide" Target="/ppt/notesSlides/notesSlide26.xml" Id="Rbab9debc70da47a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318545ee1e4686" /><Relationship Type="http://schemas.openxmlformats.org/officeDocument/2006/relationships/image" Target="/ppt/media/image52.png" Id="R4f3030f14e3b4c2f" /><Relationship Type="http://schemas.openxmlformats.org/officeDocument/2006/relationships/image" Target="/ppt/media/image26.svg" Id="R2ae6e8d7728a466e" /><Relationship Type="http://schemas.openxmlformats.org/officeDocument/2006/relationships/notesSlide" Target="/ppt/notesSlides/notesSlide27.xml" Id="Reb651341f1b5433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245a7116d34acb" /><Relationship Type="http://schemas.openxmlformats.org/officeDocument/2006/relationships/image" Target="/ppt/media/image53.png" Id="R585131736da54899" /><Relationship Type="http://schemas.openxmlformats.org/officeDocument/2006/relationships/image" Target="/ppt/media/image27.svg" Id="R67deb1afc22f4b00" /><Relationship Type="http://schemas.openxmlformats.org/officeDocument/2006/relationships/image" Target="/ppt/media/image54.png" Id="R3e8ee82603ab4f8a" /><Relationship Type="http://schemas.openxmlformats.org/officeDocument/2006/relationships/notesSlide" Target="/ppt/notesSlides/notesSlide28.xml" Id="Rdfd94b424ad4415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58106b385f423c" /><Relationship Type="http://schemas.openxmlformats.org/officeDocument/2006/relationships/image" Target="/ppt/media/image55.png" Id="R859f8c51aded4aa7" /><Relationship Type="http://schemas.openxmlformats.org/officeDocument/2006/relationships/image" Target="/ppt/media/image28.svg" Id="Rf46a2e7b1d734cad" /><Relationship Type="http://schemas.openxmlformats.org/officeDocument/2006/relationships/image" Target="/ppt/media/image56.png" Id="R7ee0eb825c614a03" /><Relationship Type="http://schemas.openxmlformats.org/officeDocument/2006/relationships/notesSlide" Target="/ppt/notesSlides/notesSlide29.xml" Id="R5609014f424a44e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6648d0c4044d72" /><Relationship Type="http://schemas.openxmlformats.org/officeDocument/2006/relationships/image" Target="/ppt/media/image57.png" Id="Raef218b101cb43c7" /><Relationship Type="http://schemas.openxmlformats.org/officeDocument/2006/relationships/image" Target="/ppt/media/image29.svg" Id="Rc2093d83d8d24431" /><Relationship Type="http://schemas.openxmlformats.org/officeDocument/2006/relationships/image" Target="/ppt/media/image58.png" Id="R449489661e6b430d" /><Relationship Type="http://schemas.openxmlformats.org/officeDocument/2006/relationships/notesSlide" Target="/ppt/notesSlides/notesSlide30.xml" Id="Re7457bf6de7b437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d286f5d8aa40ae" /><Relationship Type="http://schemas.openxmlformats.org/officeDocument/2006/relationships/image" Target="/ppt/media/image59.png" Id="R0d116a7211144591" /><Relationship Type="http://schemas.openxmlformats.org/officeDocument/2006/relationships/image" Target="/ppt/media/image30.svg" Id="Rfbd86fd84ec24c97" /><Relationship Type="http://schemas.openxmlformats.org/officeDocument/2006/relationships/image" Target="/ppt/media/image60.png" Id="Reea8fb8408be4f2e" /><Relationship Type="http://schemas.openxmlformats.org/officeDocument/2006/relationships/notesSlide" Target="/ppt/notesSlides/notesSlide31.xml" Id="Rf5a8f92f4c1547e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6fd03a8794494a" /><Relationship Type="http://schemas.openxmlformats.org/officeDocument/2006/relationships/image" Target="/ppt/media/image61.png" Id="R6f21accd368a48b1" /><Relationship Type="http://schemas.openxmlformats.org/officeDocument/2006/relationships/image" Target="/ppt/media/image31.svg" Id="Ra13f7e579cd44dc1" /><Relationship Type="http://schemas.openxmlformats.org/officeDocument/2006/relationships/image" Target="/ppt/media/image62.png" Id="R275b70456ff047f5" /><Relationship Type="http://schemas.openxmlformats.org/officeDocument/2006/relationships/notesSlide" Target="/ppt/notesSlides/notesSlide32.xml" Id="Rfc9c969a8cc04a1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bad74cdee2444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FA955C-A497-491E-B414-42959079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3B4854-EEE6-4B58-9EB8-C4B999E9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3619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891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4891FF"/>
                </a:solidFill>
                <a:latin typeface="Aptos Display"/>
                <a:ea typeface="Aptos Display"/>
                <a:cs typeface="Aptos Display"/>
              </a:rPr>
              <a:t>LET'S PLAY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2230E6-9B2E-45DA-9EC3-D507E3C5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3238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0" b="1">
                <a:solidFill>
                  <a:srgbClr val="F5F5F7"/>
                </a:solidFill>
                <a:latin typeface="Aptos Display"/>
                <a:ea typeface="Aptos Display"/>
                <a:cs typeface="Aptos Display"/>
              </a:defRPr>
            </a:pPr>
            <a:r>
              <a:rPr sz="9000" b="1">
                <a:solidFill>
                  <a:srgbClr val="F5F5F7"/>
                </a:solidFill>
                <a:latin typeface="Aptos Display"/>
                <a:ea typeface="Aptos Display"/>
                <a:cs typeface="Aptos Display"/>
              </a:rPr>
              <a:t>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FC107A-D8E6-4E24-96F2-3B42685B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647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把 AI 变成自己的工作流外挂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5072DA-EA44-418F-9E2A-1D7AF258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571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1A1A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A1A1AA"/>
                </a:solidFill>
                <a:latin typeface="PingFang SC"/>
                <a:ea typeface="PingFang SC"/>
                <a:cs typeface="PingFang SC"/>
              </a:rPr>
              <a:t>面向非 IT 朋友的 60 分钟 AI 科普分享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021c816bc0426f"/>
          <a:srcRect xmlns:a="http://schemas.openxmlformats.org/drawingml/2006/main" l="0" t="123" r="0" b="1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4476750"/>
            <a:ext cx="3429000" cy="19240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9BFD8F-7820-42BE-A6FE-805AA3F9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2026 / AI Literacy / Live Demo</a:t>
            </a:r>
          </a:p>
        </p:txBody>
      </p:sp>
    </p:spTree>
    <p:extLst>
      <p:ext uri="{BB962C8B-B14F-4D97-AF65-F5344CB8AC3E}">
        <p14:creationId xmlns:p14="http://schemas.microsoft.com/office/powerpoint/2010/main" val="68423049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21c4b52f274181">
            <a:extLst>
              <a:ext uri="{96DAC541-7B7A-43D3-8B79-37D633B846F1}">
                <asvg:svgBlip xmlns:asvg="http://schemas.microsoft.com/office/drawing/2016/SVG/main" r:embed="R369dfc40daf24ed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2C4A88-1C18-4CBA-8401-79F8BFD9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891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891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13ADE-3600-4AD0-96A4-3FDAB002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"/>
            <a:ext cx="4000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C7CA07-4409-4BCE-B835-982B14A0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3375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rPr>
              <a:t>Opening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A0AB95-9833-4D1F-900C-0FDD86DC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F78AD1-58EF-4553-B046-7F96D8A0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D813DD-CD85-418C-B081-DE0DE592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9AE9F6-ED4E-453C-B8C2-F3FE9BB7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EFEA8-C14B-4460-8288-BBE1C93B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191145-71BE-483A-B6EA-8C763BBF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769583-11F2-455E-8DB3-4EB1BC99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B8BF40-ECCB-4C3E-A4B0-450C96C0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B55D79-B139-4BB5-8678-3CFEEBE1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F18CB3-6EEC-4557-B349-EEEA68EE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AC4DEB-96A9-45F7-83D3-3FAD1C03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D78A44-76A1-4012-B31C-25B5EFC0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89C240-5D3F-465C-AB69-44A03E57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987A53-1F85-40A2-9B42-038252A7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49B21C-D7A4-43FF-AD51-E57DE24D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7979A8-1687-4FA8-ABEA-36305E4A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44332A-2FB4-4F03-81BD-68FA0E37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589790-3B06-451B-8D83-88982F93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48D2C9-C073-456D-B904-E9F3E62E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C9DE8E-52DE-461E-82F7-E5A8BCF0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CCB95D-7459-4525-B00E-CAE4F1CF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64708F-1EAF-4BBB-9497-8647D499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4538C8-6CE1-4C46-A7E8-B32209B3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F8AF28-8272-4C1E-BDD2-D613155D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BD8F3C-4C8D-4E1D-A09C-48560BE8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D58E93-DCF2-49D2-963A-18F1A564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60DC29-DBDB-4130-BAE3-C85E86C9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5BFE6B-EAEE-408B-B22A-878341A3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ADDDEB-6488-46E9-B45B-648A7841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7368FC-2DE2-440F-8863-8D276F17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B46E06-28D0-4BDC-B202-3AC585DE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45DBBD-923B-4B87-B53D-F187015E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EFC78B-1027-4EC9-8F72-D10F2B17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891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891FF"/>
                </a:solidFill>
                <a:latin typeface="PingFang SC"/>
                <a:ea typeface="PingFang SC"/>
                <a:cs typeface="PingFang SC"/>
              </a:rPr>
              <a:t>开场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392F82-3E81-42F8-8D7B-0B128493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为什么这场分享值得听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9A102F-6302-4CC2-AE11-F72C38D0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447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AI 已经不是“会聊天”，而是在改变工作方式。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85615B-9ECC-485E-B73A-EBD521DE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259EC81-9065-4EC0-AE94-851E4591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内容生产：从写文案到生成图片、视频、音乐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7707B0-B360-424D-93DC-2CA7BB34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D9C20EF-BB0D-441E-9765-FDB3781E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工具协作：从问答案到调用工具、操作流程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09243AF-D82C-47DF-A680-0FA005D7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7BB56D7-11AF-485A-860C-4BD36F9C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053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岗位变化：重复劳动被压缩，判断和表达更重要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0BF1031-9553-4C35-AEC9-5841F498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162050"/>
            <a:ext cx="60388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4902"/>
            </a:srgbClr>
          </a:solidFill>
          <a:ln xmlns:a="http://schemas.openxmlformats.org/drawingml/2006/main"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0e2c0669c54945"/>
          <a:stretch xmlns:a="http://schemas.openxmlformats.org/drawingml/2006/main"/>
        </p:blipFill>
        <p:spPr>
          <a:xfrm xmlns:a="http://schemas.openxmlformats.org/drawingml/2006/main">
            <a:off x="5391150" y="1280517"/>
            <a:ext cx="5810250" cy="326826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58108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8a7ce5a5fe4d36">
            <a:extLst>
              <a:ext uri="{96DAC541-7B7A-43D3-8B79-37D633B846F1}">
                <asvg:svgBlip xmlns:asvg="http://schemas.microsoft.com/office/drawing/2016/SVG/main" r:embed="R6d7320dfe6114c4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E76458-DF20-4AD0-BA9E-BD594C67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45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453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67006E-81C6-420E-BE73-A12DAA0C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"/>
            <a:ext cx="4000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5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386C1-DAB8-4BE3-8622-1D813189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3375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rPr>
              <a:t>Opening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139801-B059-4F6A-B4CB-AFE7A760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5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50847A-84A3-433F-A38B-B01312D1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5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62BC21-C421-4F77-954C-7C7DA1F2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5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DA8D2F-AD67-4689-A001-6F62419C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252092-6A6B-4923-9445-94578300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D07A43-5AF1-4897-BB59-E6DCBFC7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30F862-6E64-4842-8B8A-5C096028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642250-DD4B-4DF3-BB2F-A50F3CB8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695CA1-9103-4897-BE0B-EDA46E52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F9A637-9F1E-4F09-B4A0-1ECBEBDC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FC74E1-26F3-4CB2-965E-ADF86CB4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3A4663-EBBB-465C-809E-FA352472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22379B-007D-4A05-A4D1-5E1208C8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08A1F1-A76D-4106-8457-B9ABB46D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99CCB9-98FF-4473-8694-613E2ABB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A2C0E9-799F-4FB9-82D1-3FA8977B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E3DDFB-4357-46C7-B88D-EC4F6469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7F70BA-1C6C-49F8-9B13-61E824CF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F0464E-D23C-4180-AC33-29B49163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48077F-DF0B-44BF-851E-6573F214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7524C2-A98A-4881-A027-6CFF9B78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5D58AF-2A27-44FC-BE0B-085C2D2F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1D8A77-3120-45B8-B64E-ECAE1AD8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4AB368-EEB6-4935-B756-A7A4B2E5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462874-3AB3-4FDC-B7A8-9300C830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A3AC8A-E10F-40A2-B10D-91741A65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43D2B9-ECEE-458D-AAEC-1F58F877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F5B382-2824-49F4-9C5A-A6C3EE0C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797182-C451-41A1-B15F-00C8585E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FF58DF-1D44-4288-9687-77A0678A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47DD71-D8E1-428A-B455-176BF834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553255-7AC0-4F91-9730-4538A83F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C6ACF7-10B1-4FC6-8291-43BD876F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45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453A"/>
                </a:solidFill>
                <a:latin typeface="PingFang SC"/>
                <a:ea typeface="PingFang SC"/>
                <a:cs typeface="PingFang SC"/>
              </a:rPr>
              <a:t>FOMO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F304B5-3068-46EC-B306-B925777B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你不是落后了，是入口爆炸了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7D00397-F665-4B34-BD13-35C18FAA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447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学习困难不在于你笨，而在于信息入口同时变多。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8B2E2F-7C8D-466F-A02E-E3BC8562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5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ACBA111-70F4-46EB-941A-0E92E907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工具太多：每天都有人推荐新的 AI 应用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C9A8FF-46C4-4799-84DF-3A0F6AB2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5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1C20215-2CEE-4BEC-9C8A-ED3D1D89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黑话太多：Token、RAG、Agent、MCP 一起出现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41F6DF3-10FF-4F43-8A72-64870241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5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2E5E984-AE73-4ADD-B43D-3D85B8AE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053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新闻太快：模型、芯片、融资、监管不断刷新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71A66BF-C794-407E-ADCA-8E0BA9E1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162050"/>
            <a:ext cx="60388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4902"/>
            </a:srgbClr>
          </a:solidFill>
          <a:ln xmlns:a="http://schemas.openxmlformats.org/drawingml/2006/main"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c875764fdf472b"/>
          <a:stretch xmlns:a="http://schemas.openxmlformats.org/drawingml/2006/main"/>
        </p:blipFill>
        <p:spPr>
          <a:xfrm xmlns:a="http://schemas.openxmlformats.org/drawingml/2006/main">
            <a:off x="5391150" y="1280517"/>
            <a:ext cx="5810250" cy="326826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41532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bddbc689874a33">
            <a:extLst>
              <a:ext uri="{96DAC541-7B7A-43D3-8B79-37D633B846F1}">
                <asvg:svgBlip xmlns:asvg="http://schemas.microsoft.com/office/drawing/2016/SVG/main" r:embed="R5399c53a8691408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2F51FE-2294-40ED-8F37-E1498678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4C75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4C75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28321F-0C3B-4EDA-A5D3-51790F9F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"/>
            <a:ext cx="4000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0776C6-EC53-4CCB-82FD-366FFD4D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3375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rPr>
              <a:t>Opening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F0D34C-E75D-4C9F-8055-E6FF686C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AC7D20-A4C5-4094-B0B5-B841DD13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C91A1D-2EE8-4A4B-81E6-4E3C6ED6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ABC63A-C608-41A0-934D-2ECEC88C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80CABC-BB94-4348-9F26-42ABA9E9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B1A3A4-1FA1-4D40-A0BC-B76E942E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FF2724-D1FB-4063-9850-EEC1ADFE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318E5C-39C4-4732-AF6D-BAC05B43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092819-F8E7-4C04-A59C-FF411C90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3BC8D6-00F0-4D37-949E-C7024F12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0690BC-BAE3-41FA-95C0-2DEC620B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FE3DEF-C7E2-485A-961D-EFE37257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ABC8E3-9ECF-4DF2-8766-2278DDF0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81F397-E67E-44B5-8865-5EFC08A9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8EA4B4-8B29-4B4B-9ADB-3AC8C894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143A82-5F05-4040-8F6C-64D07F8F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3466FD-0D84-4C25-BC93-18E1E926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9F1F08-0705-4D3B-8243-919F29BA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313ACF-C3CF-4648-BB48-BC5BC064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BC2AE3-7D40-4BDC-B6D9-6D903B1F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C45736-E7E0-4876-84A3-3ED7C0B5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7CE70E-5EF7-4B45-BE0B-5FAB84D7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D26141-E94D-456E-848C-E00EADBD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2649A8-37AB-41D3-A0D6-9D2A08C1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628FD3-3511-4D1F-AD75-4BBE021F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FDDEA2-4D23-4CB8-A95E-4B826AFD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CFC548-4127-46BB-8922-A976373D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3FF814-C3B5-483B-A22C-2AA5A349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DF73D3-53BA-442B-8F24-55E7E4D4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582520-6218-4FC5-B4FD-7618F8CE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38E344-CBDA-4729-AD61-55499901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4E9B44-8DA7-44D9-A87A-8D113370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92C8B4-02B4-4253-A5E5-508134A4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C75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4C759"/>
                </a:solidFill>
                <a:latin typeface="PingFang SC"/>
                <a:ea typeface="PingFang SC"/>
                <a:cs typeface="PingFang SC"/>
              </a:rPr>
              <a:t>路线图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D68503-DE60-4CCD-BB00-9F65978B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今天只解决三个问题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F1CBD3-69FD-4463-898E-F6E989CF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447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看懂、选对、用起来。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5C248F-86FD-4B2D-B327-EC2CA664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7AB3C3-7D26-4895-A4EF-88ABC209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看懂：知道 AI 的基本原理和关键黑话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F13E323-8E13-477F-B41E-D13B563F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9756513-FE94-4D82-B6FC-96B693BC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选对：按任务选择工具，而不是迷信排行榜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E48A05F-29DF-4377-8C2E-DBC090C6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1C4113E-48EF-4096-8CEE-4FC171C7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053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用起来：把真实案例拆成可复制的工作流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7DC0FF-5203-4BA8-A38E-92BF76F9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162050"/>
            <a:ext cx="60388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4902"/>
            </a:srgbClr>
          </a:solidFill>
          <a:ln xmlns:a="http://schemas.openxmlformats.org/drawingml/2006/main"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3adf5d4a144826"/>
          <a:stretch xmlns:a="http://schemas.openxmlformats.org/drawingml/2006/main"/>
        </p:blipFill>
        <p:spPr>
          <a:xfrm xmlns:a="http://schemas.openxmlformats.org/drawingml/2006/main">
            <a:off x="5391150" y="1280517"/>
            <a:ext cx="5810250" cy="326826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50426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ef6b1d69634828">
            <a:extLst>
              <a:ext uri="{96DAC541-7B7A-43D3-8B79-37D633B846F1}">
                <asvg:svgBlip xmlns:asvg="http://schemas.microsoft.com/office/drawing/2016/SVG/main" r:embed="Re4d95de2d2064c0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6F695B-F69F-4251-9FD9-32404689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800100"/>
            <a:ext cx="746760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4902"/>
            </a:srgbClr>
          </a:solidFill>
          <a:ln xmlns:a="http://schemas.openxmlformats.org/drawingml/2006/main"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3b58050f774ed3"/>
          <a:stretch xmlns:a="http://schemas.openxmlformats.org/drawingml/2006/main"/>
        </p:blipFill>
        <p:spPr>
          <a:xfrm xmlns:a="http://schemas.openxmlformats.org/drawingml/2006/main">
            <a:off x="2971800" y="916781"/>
            <a:ext cx="7239000" cy="4071938"/>
          </a:xfrm>
          <a:prstGeom xmlns:a="http://schemas.openxmlformats.org/drawingml/2006/main" prst="rect">
            <a:avLst/>
          </a:prstGeom>
        </p:spPr>
      </p:pic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acc65fd0041d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4095750"/>
            <a:ext cx="3048000" cy="1714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FEFA5E-8C55-4D0D-846C-414626FA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891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891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F27834-B52C-4FCB-B435-8B5DED77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"/>
            <a:ext cx="4000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08C024-AB5A-4731-B816-3A650AB6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3375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rPr>
              <a:t>Section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EB6C20-CD3B-4672-96CF-BBDB788B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A36BA-9345-4E25-851B-0C2EE825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42B7C7-48D0-41E5-9C99-F32D00D1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2BE4D4-B72D-4644-BC55-29C8555D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E8DB90-9E51-44D6-B9C9-D6EDAD8C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C76D90-0C38-4B98-ACFF-28762C50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C7B393-1488-416D-9500-F9C4E227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E76A3A-C622-420A-9B76-583CFF52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ECA4FD-861A-467F-A011-195094C0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7883AE-B585-426F-A5BB-C18DAD58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06CB6A-17F0-4374-A57A-99E108EE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7B7897-5AA1-47C6-8115-2D3566E1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058583-C695-4E75-8FB0-FE6CFD27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BEA8D0-D8FC-4F0C-802A-03C5ACB6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78B1BD-5136-4B33-A48F-B4CC6AD5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7BB1A1-4821-402B-8A25-0AB754CD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A223F2-135D-44E8-A706-27B4598B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D0E790-1F3B-460E-AB3D-446309EB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C56B63-BE6F-459B-A638-CF4D1E80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0A5FEB-90DB-4D89-B1F6-D6B07129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F6E055-3F8B-4CE6-93DB-984ED22C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C9A862-91F2-4FA4-98E9-4CDD2AC9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942121-8682-4DAC-B3F6-14504B7C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0F7605-2AE8-4A3E-92D2-ADA88DD1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348673-962E-472B-98C4-2E062C73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6F685E-990D-4EEC-B011-C5CE6577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DC2DB8-B1F5-4949-B61B-30C4E328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597C92-BC3F-4A88-857B-B42C8F4D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0D64E2-D41A-4B1D-AECB-3A7B567B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DD4F44-C1A4-4A78-AA90-3F5EEF68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E69C66-AD6E-4FFB-8803-1CF2EFBA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BD33FA-8522-4915-9E10-FD4AD5B5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2A2662-6A7E-4ED2-833E-26185F71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5F7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5F5F7"/>
                </a:solidFill>
                <a:latin typeface="Aptos Display"/>
                <a:ea typeface="Aptos Display"/>
                <a:cs typeface="Aptos Display"/>
              </a:rPr>
              <a:t>Part 01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3300DB-2529-4CF9-968F-E63CB911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495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891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4891FF"/>
                </a:solidFill>
                <a:latin typeface="PingFang SC"/>
                <a:ea typeface="PingFang SC"/>
                <a:cs typeface="PingFang SC"/>
              </a:rPr>
              <a:t>看懂 AI</a:t>
            </a:r>
          </a:p>
        </p:txBody>
      </p:sp>
    </p:spTree>
    <p:extLst>
      <p:ext uri="{BB962C8B-B14F-4D97-AF65-F5344CB8AC3E}">
        <p14:creationId xmlns:p14="http://schemas.microsoft.com/office/powerpoint/2010/main" val="212497031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012d14141e40d5">
            <a:extLst>
              <a:ext uri="{96DAC541-7B7A-43D3-8B79-37D633B846F1}">
                <asvg:svgBlip xmlns:asvg="http://schemas.microsoft.com/office/drawing/2016/SVG/main" r:embed="R4db1e8d14d654a6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FC228F-54D1-4B6F-B6F1-B5B8B6B2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891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891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1881B1-E7BD-4050-9FC1-666EA9A4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"/>
            <a:ext cx="4000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2B16A1-A886-409A-ADB8-93F1EAD9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3375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rPr>
              <a:t>Part 01 看懂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BC1E47-3532-47FE-8C65-41021A77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8297B5-3E87-4F89-9072-1AC32A76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89853E-453E-4D4E-A65A-B8EBDD4D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132DF1-C03A-4466-93C5-BC7112BB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07C896-5252-4CD9-B486-65F3DCC7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7E8478-B8C6-415D-B7CA-999FDF01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FFAE6C-DEBB-4EAF-80DF-258F57B4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254BF4-1141-4A78-820B-C869BDDF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7C07AA-9911-4FE3-9A5E-88812247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E23520-FDCC-47CF-8CC3-D40EB6D0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BE72F5-D0AC-4FB5-B3DE-6E39DF43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86C29C-134E-4586-8D4B-B3AB48B1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5D2B0C-6F8F-4475-A01F-0A9036E2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5C8FE0-BC1E-476F-A2D7-D0385C58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7A5821-B488-462B-ACED-842CD1AA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502006-8F42-4F40-9F72-A47E8C92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0996C2-8F3D-4180-8DCA-27690625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34225E-3BCB-445C-8481-317D586B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F0D799-EE98-4463-B196-6AE942C1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9CC820-B702-4A01-97FC-9A1B10F8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2CD6EA-0908-4F10-BDF9-15E6F92D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DE4143-19DF-46FC-AADB-7F4DE755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E0FE19-AE5A-4009-972A-9D7963A1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6E7F61-CD2C-4C3F-90BA-F264BC4C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BE6376-51E2-4985-92F6-AE8C2012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D90807-7CAA-4447-B46D-A5CBEB98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565521-A297-4E61-A6B7-A4D0A5AC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A5307C-0752-4D73-8FB2-FAF3109C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D1C79C-3922-4598-ADF5-02731F31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DA25EA-D35C-4682-BD77-CC1DB48F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864135-9979-4D22-AF4B-18A1CC52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8DC723-12F4-466C-B461-7B5DCE0B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BA8A5E-A430-4E06-BFB6-E48942A9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891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891FF"/>
                </a:solidFill>
                <a:latin typeface="PingFang SC"/>
                <a:ea typeface="PingFang SC"/>
                <a:cs typeface="PingFang SC"/>
              </a:rPr>
              <a:t>演进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1DB17EE-53FA-44CA-B5D5-29A7AC9D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AI 的三次跃迁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0FC978-D9BC-4B92-A1AE-09B3EC5D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447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AI 从识别、生成，走向执行。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090D2AA-A855-4837-8C4D-48E83942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2CBAD3-A0BD-4083-A4A9-BAADA5E6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识别：看懂图像、语音、文本中的模式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C723B4-E4B3-4ED9-8F1C-682A2113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AF2A2CB-BEC1-4203-9DEE-9B0A57AC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生成：能写、能画、能剪、能做代码草稿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12D4E20-5FD0-4621-BC62-2EAC1072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2261FC0-3E77-4FD8-B9AA-E3F4D2D7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053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执行：能拆任务、调工具、跑流程、回报结果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0FF9C85-9217-4A90-AD32-B2C45008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162050"/>
            <a:ext cx="60388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4902"/>
            </a:srgbClr>
          </a:solidFill>
          <a:ln xmlns:a="http://schemas.openxmlformats.org/drawingml/2006/main"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e1bb5fc60040f9"/>
          <a:stretch xmlns:a="http://schemas.openxmlformats.org/drawingml/2006/main"/>
        </p:blipFill>
        <p:spPr>
          <a:xfrm xmlns:a="http://schemas.openxmlformats.org/drawingml/2006/main">
            <a:off x="5391150" y="1280517"/>
            <a:ext cx="5810250" cy="326826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66745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2f2a66a5914e30">
            <a:extLst>
              <a:ext uri="{96DAC541-7B7A-43D3-8B79-37D633B846F1}">
                <asvg:svgBlip xmlns:asvg="http://schemas.microsoft.com/office/drawing/2016/SVG/main" r:embed="R2d09766c826845b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8F3F3E-F288-4EB9-A028-DB2DF041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9F0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9F0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5752B5-3DB4-44FF-9923-1A8E4607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"/>
            <a:ext cx="4000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F3B183-4313-4FA8-898F-D5CC8DFE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3375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rPr>
              <a:t>Part 01 看懂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AF59EB-DCD6-440A-ACA4-35D76AEA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D74BF-136D-47F7-A0A7-54C04759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9E3200-26A4-442A-837F-292BAA66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71D41B-AC94-433B-B35F-46404E81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8FE020-51F6-4290-8FBA-FE193DCC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9A047C-4DF4-4838-B333-0866A1C1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B05482-AECC-4682-8B5B-41EFAB96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E4FC2-3319-4FD4-B4F5-9B0D4528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8CF529-649A-4F40-93B9-F3B42A74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610FF1-18CB-40E7-A33D-B2C29D48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D5B908-126A-4B2A-AB5D-AB45CCEB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8E101C-A8BF-47D1-B9EA-54008C48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025E50-F5B6-4AD1-8CE8-96CCD362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A74E14-A090-4743-9E2B-DCE00555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E657F4-E97F-4893-B92F-8B9BEE6A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090D59-25CC-4F24-B6C8-4F73F021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1A80F7-374B-4607-9244-78E53C73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4A5583-CA00-4ED2-B213-B2606C69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D41A24-F83C-4BB9-BC2E-5D1A0BBD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59BCC7-631A-4B16-BC83-666FBBCF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BC17A2-840A-4A0C-A2C0-CD97A0EB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3F504A-2C3B-43D5-B211-11DF6000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67AF99-E530-42BF-B006-05400E6D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8E277A-2A15-4731-8FED-DBA36BE6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D7A05A-A337-42CD-9512-60E5B26A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8F025A-8E98-412B-8AD8-D004379D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D4807E-80E1-45AF-90D3-1C1009A8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17638A-FA99-4E53-8219-742ABFEE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6B7EF9-13D9-4F2D-B2E2-27A32E91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380D34-8725-4162-8E01-2D32D00C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8C7FD6-AACE-417B-A23D-50B8BF65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B73A53-4867-47B8-AC9A-BA83D5B7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F04B0C-0491-4757-BD70-8007669D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9F0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9F0A"/>
                </a:solidFill>
                <a:latin typeface="PingFang SC"/>
                <a:ea typeface="PingFang SC"/>
                <a:cs typeface="PingFang SC"/>
              </a:rPr>
              <a:t>爆发原因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7E509B-5381-42BC-8F86-5F7E3E77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为什么最近两年突然爆了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8C2C99-C6CA-4032-906D-62D9E99B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447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模型、算力、数据、产品入口同时成熟。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957346-E0FC-4770-8391-385DD84D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8FCB83-F8C0-4FC8-8F2B-BF723891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模型：通用能力提升，能跨任务迁移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1465581-290B-403D-9844-9BFE5AD1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35F4776-1AEF-4ECE-A2DC-463F5975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算力：GPU 和云基础设施让训练与推理规模化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2CC3A3E-FF70-4F7F-A762-5F00F514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977D521-9A52-48FE-B336-45E48A68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053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入口：聊天 App、办公套件、手机和浏览器把门槛降下来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7F072AD-9B75-4CD9-8101-C0C4B8B1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162050"/>
            <a:ext cx="60388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4902"/>
            </a:srgbClr>
          </a:solidFill>
          <a:ln xmlns:a="http://schemas.openxmlformats.org/drawingml/2006/main"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b544903a3e438c"/>
          <a:stretch xmlns:a="http://schemas.openxmlformats.org/drawingml/2006/main"/>
        </p:blipFill>
        <p:spPr>
          <a:xfrm xmlns:a="http://schemas.openxmlformats.org/drawingml/2006/main">
            <a:off x="5391150" y="1280517"/>
            <a:ext cx="5810250" cy="326826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86844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082113af424407">
            <a:extLst>
              <a:ext uri="{96DAC541-7B7A-43D3-8B79-37D633B846F1}">
                <asvg:svgBlip xmlns:asvg="http://schemas.microsoft.com/office/drawing/2016/SVG/main" r:embed="R2451fd354c7a431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E7B3A9-CC81-4523-B043-DE6EB37E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891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891F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4ACBD3-26A3-48C6-9D0F-0BB167C7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"/>
            <a:ext cx="4000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934DC0-DC36-488B-A79E-8ED6A808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3375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rPr>
              <a:t>Part 01 看懂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B79C67-D490-4B30-ABD5-4069F4F5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984920-199C-4569-8CAB-9CC1F954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A9D64D-AC6F-4CDE-9A8C-EA8F9CF0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C649F1-05F6-44E2-A60F-4071D534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A9F46F-FBFB-4B58-A0BB-0276BA14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BAA1D5-D92F-4196-87D0-885DCB0E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F46D81-7206-4D38-B407-ECCDF4A3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C73052-08AB-4BA4-A01D-211B622D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C5F2B6-C265-47CC-800C-E9AC7138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486C63-1E59-48CF-9333-0B08D24F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107591-C5CC-4688-88FA-A718649C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9D9F1E-C360-49AB-A3CA-B587911C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E6FEF2-CC93-4CE8-810A-AAF5B211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E9DB03-0DB4-437A-B470-CAD5A06D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10DAA7-A288-484D-AAEF-23BF14C9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1B585A-A39F-433A-8E8E-24286EFE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1919E3-475B-44B4-B1B3-21AB4A72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485C3B-1942-4562-ABDD-9EFE84C3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10E352-5760-41AB-B79D-46708C85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203DD8-9791-45DB-9303-B748BCF0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A114FA-15B1-41CD-848E-44727998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59C10D-45D0-4606-ADE5-152658F7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A9370D-8C55-4414-B487-D486BBC2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C9850A-B09A-45B2-9008-9D3A7F9A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AAEE4E-1DBF-4F86-9E9D-5CCABFB4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56D686-2241-470D-9778-7FC6EBC1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976D26-D18B-4D9E-AB3A-55BEFBDA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9D3EC3-76BF-4B00-8C8F-1BDCE8B0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7968F2-F536-48F2-B50F-8B8344DF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774589-DBFC-4828-BAB5-F0457763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22FB5A-42B9-4742-A3BB-CD6B5601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261323-91B1-4898-B02D-E3526CB1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2E3D3F-B2EB-42C7-833E-24F3796E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891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891FF"/>
                </a:solidFill>
                <a:latin typeface="PingFang SC"/>
                <a:ea typeface="PingFang SC"/>
                <a:cs typeface="PingFang SC"/>
              </a:rPr>
              <a:t>时间线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34E061-8E94-4B5D-B5C7-80927D92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从 AlphaGo 到 Agent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79A01B-4C4A-4C91-8075-26949DC9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447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AI 从单点能力，走向通用助手。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D1892F4-6D1A-4FD6-875A-C396BDAC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663D6E-9974-480B-82E0-C7A249BE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AlphaGo：大众第一次强烈感到机器会策略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E21C6FA-63A0-4993-BCBF-52A7A3E1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C5CEF4A-697A-479C-90C4-48B7D175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ChatGPT：对话入口让 AI 进入普通人日常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EEB4DC4-69C8-4F87-A6A1-0DB9EE18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4DD771F-2496-4502-A207-1E06CDFE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053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Agent / Vibe Coding：AI 开始调用工具、生成程序、执行任务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3A7A934-9E60-46CB-9C40-5ECB11D8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162050"/>
            <a:ext cx="60388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4902"/>
            </a:srgbClr>
          </a:solidFill>
          <a:ln xmlns:a="http://schemas.openxmlformats.org/drawingml/2006/main"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b328c7f2744588"/>
          <a:stretch xmlns:a="http://schemas.openxmlformats.org/drawingml/2006/main"/>
        </p:blipFill>
        <p:spPr>
          <a:xfrm xmlns:a="http://schemas.openxmlformats.org/drawingml/2006/main">
            <a:off x="5391150" y="1280517"/>
            <a:ext cx="5810250" cy="326826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84899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6fac313fd14198">
            <a:extLst>
              <a:ext uri="{96DAC541-7B7A-43D3-8B79-37D633B846F1}">
                <asvg:svgBlip xmlns:asvg="http://schemas.microsoft.com/office/drawing/2016/SVG/main" r:embed="Rc11954930b2a404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AA572-D9AD-409B-9A31-EF39839D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F62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62F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D3A345-2B2A-4655-8F8D-220587FF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"/>
            <a:ext cx="4000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12E49A-CE4C-43C3-832F-A31E0FB8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3375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rPr>
              <a:t>Part 01 看懂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5CFCF2-BA23-46FD-B915-768CEB95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742D40-5A3A-493C-BC7D-ECDD4516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FB066A-AFD5-4C23-8583-D9D39228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C0D4E-E645-4570-9DFF-D3257EDC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3E4D91-767E-4745-9103-224236DD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7165B9-2DB6-4FFC-AE2A-82E51F40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B27208-C38C-41DE-AA47-DAAF4932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DEF5E2-ED6A-4BD5-9645-10E409BD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11D6D6-4CA5-4260-85C0-C69C2078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223D8B-4214-4D82-8E3C-E1414D01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899BD8-9737-4A1E-8BCB-817A1347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358209-4804-4663-99BF-6A601C22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F70606-E0A2-488E-819B-7E9D817B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3631E5-E7BF-4891-A1A9-0A199E4A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033446-C682-4FFF-A4FC-DAC4BAF6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7DE5ED-FA03-4F55-9186-E123E70E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BCF191-8150-41BE-A3E6-A802CC18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1CFC0C-196D-476E-9044-52F741EE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C31A79-EB0D-4BBE-88D9-38E538CA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5F0FD7-4843-4931-A051-23C8FD72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9455CD-7B7D-4019-B559-35E72964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70E8D4-22D6-40DE-B4F5-B17B6571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0B102F-D87A-4F61-9E70-1A044EF0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9BA068-5548-4CD3-830D-11899FE7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0B01B5-C4F8-465F-AE9B-B43E5BD2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D3F75F-4731-4521-9271-B43840A9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3DE47B-7977-4F51-A53E-46127510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7F8469-13AD-4B4A-BA9C-09DB42A5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3813C7-5F10-4F67-A762-8FA6A3E4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CFEC0B-E287-4B8A-BEE3-714D4DE6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5541D2-A3F2-4CF7-9C7D-FC40B5BA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BC4007-C81F-4527-8213-4717D412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8E94FC-2B19-41A9-9C25-87B00C0D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F62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F62FF"/>
                </a:solidFill>
                <a:latin typeface="PingFang SC"/>
                <a:ea typeface="PingFang SC"/>
                <a:cs typeface="PingFang SC"/>
              </a:rPr>
              <a:t>原理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3D7D0A-1595-4373-B7DA-75CE06DA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AI 到底怎么工作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6D4D3A-84A5-4B9C-A7D2-65A9EC89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447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它不是懂一切，而是在上下文里预测下一步。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312B148-E45B-48F0-983F-653B259E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458679-AF7A-4FE4-856A-3995B515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输入会被拆成 Token，也就是模型可处理的片段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F58DF8A-2CA9-4538-933F-0B16B4FD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68E1D3-5995-4EE6-A9A2-106F59AA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模型在上下文窗口里寻找最合理的下一步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12DCDA3-2CDC-4ABA-88B9-0F6A41E7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5676C8F-1405-4E2A-9DF7-3469493D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053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输出很像思考结果，但本质仍然需要验证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66C8FB9-EDD1-4038-BA54-12C0694A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162050"/>
            <a:ext cx="60388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4902"/>
            </a:srgbClr>
          </a:solidFill>
          <a:ln xmlns:a="http://schemas.openxmlformats.org/drawingml/2006/main"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4d34ff0a2540e9"/>
          <a:stretch xmlns:a="http://schemas.openxmlformats.org/drawingml/2006/main"/>
        </p:blipFill>
        <p:spPr>
          <a:xfrm xmlns:a="http://schemas.openxmlformats.org/drawingml/2006/main">
            <a:off x="5391150" y="1280517"/>
            <a:ext cx="5810250" cy="326826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42637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22ca8fde1c428e">
            <a:extLst>
              <a:ext uri="{96DAC541-7B7A-43D3-8B79-37D633B846F1}">
                <asvg:svgBlip xmlns:asvg="http://schemas.microsoft.com/office/drawing/2016/SVG/main" r:embed="Rbe2ce1ade3294d7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AF2CB9-16D3-4556-97C7-93F1BF43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891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891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2A5D49-DD8C-4512-A8B2-9AD637A6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"/>
            <a:ext cx="4000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CBD669-BCF6-4316-9D06-D1F66AAA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3375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rPr>
              <a:t>Part 01 看懂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DA0C7A-9164-4986-917D-0D163919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0102C6-F9D3-42BF-B085-D395683A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AA0B3-4D73-4D6C-BCD0-37A658FA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B6F5D1-0CB4-4FBF-85A8-D1CC48C7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5F677F-52F9-4FE6-AED5-D2ED0113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F88D70-B071-46C9-8938-7EF64B43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9038A6-C633-4973-B631-BE0E013A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5342A7-73B4-4192-A681-B579518A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3B8D2D-F11E-49E6-95B2-651A60CE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CD1274-532A-4EF0-85F9-E4A668A5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8A0354-59C5-4D99-A473-29ECB55A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D7AD2C-E3AB-4619-BD69-2FA2437F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7DAD32-0203-4C7D-A16B-FD092A50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92AFDB-5B0C-43BC-8A65-5D2D1249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F74426-10B6-4E79-886C-E0BEFB40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6670C1-C128-4858-8DBD-F8E6A552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55444A-F2EA-4342-B351-BB916B62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47AC5A-1E05-4972-BF3F-2775A83C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E302FF-7624-403E-AD58-35C837FB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CFEB9D-28C8-4AF2-8510-AA9056BC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EF1AE0-72C8-46B0-8D32-AF946794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7A7580-C28B-4A11-A8E4-AB541AC3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D59954-0A64-473B-AC9F-0674EA86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F43CC9-49D6-4F4C-86B2-FC95A145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C7A41C-06BE-4E51-8DB4-876C8ECC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43A0F2-CA2C-4DF2-AE8A-D8118690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1B722C-247A-45B4-AFAE-BBA262FB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491BF5-AB4F-40C2-B820-A4FC4D5D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99FF45-8184-4EE2-8FFF-532CE6E7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274B0D-4ABE-4A66-A329-B7F7131E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5F8B1E-103F-4DBC-BE3F-C52A2314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55936E-BF47-440B-8B0E-97CB88DB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38E315-3B3A-4587-8FDF-E5B4724F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891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891FF"/>
                </a:solidFill>
                <a:latin typeface="PingFang SC"/>
                <a:ea typeface="PingFang SC"/>
                <a:cs typeface="PingFang SC"/>
              </a:rPr>
              <a:t>基本概念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588936-D138-4FBE-BA94-DBEE0817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AI 基本概念，不止 Token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F408FC-432A-4F79-8669-551A1365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447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先抓住 6 个概念，就能听懂大多数 AI 讨论。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DA03F8-6BB5-4028-AF72-196C347E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BE4572-8AB5-4F44-97D6-01AC34F4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293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先理解这些词，再看工具和案例会顺很多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EA74FC-4A8D-4EFD-8FD3-2C11250D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045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>
              <a:alpha val="5882"/>
            </a:srgbClr>
          </a:solidFill>
          <a:ln xmlns:a="http://schemas.openxmlformats.org/drawingml/2006/main" w="9525">
            <a:solidFill>
              <a:srgbClr val="4891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64E899E-873A-446E-8AAF-2ADF32DB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891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4891FF"/>
                </a:solidFill>
                <a:latin typeface="PingFang SC"/>
                <a:ea typeface="PingFang SC"/>
                <a:cs typeface="PingFang SC"/>
              </a:rPr>
              <a:t>模型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6903AD8-0E8A-4F74-98C7-00F32C36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147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被训练出的能力体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D3979EC-CD2F-4138-946D-B25BC505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0045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>
              <a:alpha val="5882"/>
            </a:srgbClr>
          </a:solidFill>
          <a:ln xmlns:a="http://schemas.openxmlformats.org/drawingml/2006/main" w="9525">
            <a:solidFill>
              <a:srgbClr val="4891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B17167B-B47A-4030-B811-1D1E5F04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95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891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4891FF"/>
                </a:solidFill>
                <a:latin typeface="PingFang SC"/>
                <a:ea typeface="PingFang SC"/>
                <a:cs typeface="PingFang SC"/>
              </a:rPr>
              <a:t>Token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885D959-9FFC-48EE-A6E4-E89E09C1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7147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AI 的阅读单位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D5CE8E0-CD87-4591-AA19-23FFA05C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>
              <a:alpha val="5882"/>
            </a:srgbClr>
          </a:solidFill>
          <a:ln xmlns:a="http://schemas.openxmlformats.org/drawingml/2006/main" w="9525">
            <a:solidFill>
              <a:srgbClr val="4891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D7B4809-EF80-4E47-BBD3-D6F2160D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891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4891FF"/>
                </a:solidFill>
                <a:latin typeface="PingFang SC"/>
                <a:ea typeface="PingFang SC"/>
                <a:cs typeface="PingFang SC"/>
              </a:rPr>
              <a:t>上下文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3CA8D3B-71B9-429E-9D59-752FD430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8150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临时工作台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C2A685D-32CA-4678-88FD-2693D53A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6720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>
              <a:alpha val="5882"/>
            </a:srgbClr>
          </a:solidFill>
          <a:ln xmlns:a="http://schemas.openxmlformats.org/drawingml/2006/main" w="9525">
            <a:solidFill>
              <a:srgbClr val="4891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AC199A1-AF1C-4E4B-A84B-CDE72735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36245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891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4891FF"/>
                </a:solidFill>
                <a:latin typeface="PingFang SC"/>
                <a:ea typeface="PingFang SC"/>
                <a:cs typeface="PingFang SC"/>
              </a:rPr>
              <a:t>Prompt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23D1A7F-5FD3-48D3-9CF5-90165D8C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38150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任务说明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7E37748-4919-4BDB-9748-D5597B3E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3395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>
              <a:alpha val="5882"/>
            </a:srgbClr>
          </a:solidFill>
          <a:ln xmlns:a="http://schemas.openxmlformats.org/drawingml/2006/main" w="9525">
            <a:solidFill>
              <a:srgbClr val="4891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F5D9274-78A2-4EE3-A1D9-2864BBC5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292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891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4891FF"/>
                </a:solidFill>
                <a:latin typeface="PingFang SC"/>
                <a:ea typeface="PingFang SC"/>
                <a:cs typeface="PingFang SC"/>
              </a:rPr>
              <a:t>推理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4A9F36E-B6E5-4869-A9D1-D03E2208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482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现场生成答案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031361B-84D2-4F3D-B35C-FC140354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3395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>
              <a:alpha val="5882"/>
            </a:srgbClr>
          </a:solidFill>
          <a:ln xmlns:a="http://schemas.openxmlformats.org/drawingml/2006/main" w="9525">
            <a:solidFill>
              <a:srgbClr val="4891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F849251-28F1-4D80-B435-4E3349B6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0292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891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4891FF"/>
                </a:solidFill>
                <a:latin typeface="PingFang SC"/>
                <a:ea typeface="PingFang SC"/>
                <a:cs typeface="PingFang SC"/>
              </a:rPr>
              <a:t>幻觉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4C23EBE-A316-4AC7-944C-FC6C743C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0482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像真的错误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89502B2-8DD7-4033-9618-379F138A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162050"/>
            <a:ext cx="60388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4902"/>
            </a:srgbClr>
          </a:solidFill>
          <a:ln xmlns:a="http://schemas.openxmlformats.org/drawingml/2006/main"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af63bd2bf74bb5"/>
          <a:stretch xmlns:a="http://schemas.openxmlformats.org/drawingml/2006/main"/>
        </p:blipFill>
        <p:spPr>
          <a:xfrm xmlns:a="http://schemas.openxmlformats.org/drawingml/2006/main">
            <a:off x="5391150" y="1279648"/>
            <a:ext cx="5810250" cy="327000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74619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a94bdf5a2a46a2">
            <a:extLst>
              <a:ext uri="{96DAC541-7B7A-43D3-8B79-37D633B846F1}">
                <asvg:svgBlip xmlns:asvg="http://schemas.microsoft.com/office/drawing/2016/SVG/main" r:embed="R735ac16a3532477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B46F3B-6B28-433D-AC43-B2980684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4C75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4C759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294FDB-4F1E-4A80-902D-BD93E95F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"/>
            <a:ext cx="4000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A86911-FBBC-45B4-8823-ACB805BE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3375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rPr>
              <a:t>Part 01 看懂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AC9859-1B0A-4C86-BC01-C4B23504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B68AAA-AFB6-41FC-801C-01959E2D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D1DA97-6656-44F5-82E7-DDE13CBE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656186-EB6D-4C4E-B3D2-F223ECF5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B4666D-573A-4DFF-8B44-312DA54E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1D3DFD-28B1-4B53-A0B5-B29909AE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B87FE6-8972-4F18-8D1E-B349FF61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001903-B9E1-48F8-BE0E-F70FA036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8813CA-4A0B-47B3-8516-2615B35A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B91AC3-1E0C-4799-80C9-1DBAE86E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251101-43E9-4072-8D3E-8C199501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FEA395-57AA-4182-B653-C8378D3D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BF46D2-0A93-43D0-A3B7-DB739B18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39740E-7968-4F9B-9BA3-B9DB4E1D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152715-66C8-4FEA-A317-D006C49D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A54F52-F78F-4B19-95CB-6AAFA8D1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6FE9ED-09FD-4131-94CE-95A2C0F1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55B90A-1117-4E37-8997-2F60D62F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07E596-D54B-466A-9BA1-4B40BA4D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EE3D87-5CEC-441A-BCF5-FEFD96BC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8F4A43-2F25-4477-9946-F958FD90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5AECB4-BBAC-4FA8-A778-ED0D9978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5BF979-AC2F-42A3-A997-1AE8EED4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EE6E27-D961-46FF-B4F7-D10FFBA0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FFC13A-EB8F-4325-A373-0CD5A2E0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DE452A-BBD3-4F8F-AEA1-7846C052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23555D-C450-451A-B4D7-5A405CAA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C2926F-3E55-4C84-B223-C277540D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EC62C7-CD50-4F90-9BD0-D1FB2C69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120E77-4057-48C9-AF04-7C011EFF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DDCF02-3597-4F3E-AB35-762E3DD3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2FA2F2-E3D9-48D3-B8C9-508EBEFB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723E83-E115-45CC-B9D0-7AA3B7BE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C75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4C759"/>
                </a:solidFill>
                <a:latin typeface="PingFang SC"/>
                <a:ea typeface="PingFang SC"/>
                <a:cs typeface="PingFang SC"/>
              </a:rPr>
              <a:t>使用方法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CECF0C-09F0-4E04-AABC-5B92EA62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Prompt 不是咒语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E38843-5A64-4895-A316-A8E9F00D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447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好 Prompt = 目标 + 背景 + 约束 + 输出格式。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BAF449-2AD0-4FC9-BDA4-9007A12B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F3E0AE-71FC-4F75-A2B4-899C310D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目标：要它完成什么，不要只说“帮我看看”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1380B52-CB43-4E51-AD2A-553C1917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D440BB9-E02C-4B1F-B0F0-88C7CA18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背景：给足材料、身份、场景和限制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3B78564-970A-4518-B2CF-1475F4FF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A30CE2A-1BEE-4D9F-8044-E28D9DD5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053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格式：让结果直接可复制、可检查、可执行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94B7B9E-C4FF-4489-9323-A878D3F6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162050"/>
            <a:ext cx="60388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4902"/>
            </a:srgbClr>
          </a:solidFill>
          <a:ln xmlns:a="http://schemas.openxmlformats.org/drawingml/2006/main"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c577d042a44e88"/>
          <a:stretch xmlns:a="http://schemas.openxmlformats.org/drawingml/2006/main"/>
        </p:blipFill>
        <p:spPr>
          <a:xfrm xmlns:a="http://schemas.openxmlformats.org/drawingml/2006/main">
            <a:off x="5391150" y="1280517"/>
            <a:ext cx="5810250" cy="326826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0451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2606f88d7b41a0">
            <a:extLst>
              <a:ext uri="{96DAC541-7B7A-43D3-8B79-37D633B846F1}">
                <asvg:svgBlip xmlns:asvg="http://schemas.microsoft.com/office/drawing/2016/SVG/main" r:embed="Rcd8319d663524ee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3CF6A-8C6E-4048-818E-06D20F57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45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453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C58C18-8C5B-45AD-8D1B-CE033919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"/>
            <a:ext cx="4000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5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F71F0-F36F-44A4-8FA6-31054765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3375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rPr>
              <a:t>Part 01 看懂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6731C-E094-4226-A4A6-1A146635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5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ED0218-40C2-48B8-96D5-156CF2AA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5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FEB0F6-FA37-42FA-B9FD-DAA7FA77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5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B3F900-5485-402C-ADD7-A93CBD28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5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28C40E-536F-41E5-B00F-333BC592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5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418FA3-1CCD-46AC-99ED-3F6EDFE8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5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265A84-79E2-4DBF-9D7F-8F0C725E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5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2274F9-2597-4B17-94DE-070DAB43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5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08A922-8F90-48E3-94F3-35058783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5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12E783-B04A-42AC-B9F7-E3573B69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5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9E4F60-4912-4039-98AE-C150966B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5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67CFCB-82F8-466D-AF26-49757360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5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5EEACF-34A0-403C-BC8B-A1C0C25F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BA09DD-B63F-49B9-963E-E9DA1DFA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E450CE-D209-48C8-A10D-43567951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021FA5-B2E4-4491-9BD4-AFC98F4C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BAE7AA-0442-44F2-96E0-D02E97FB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AEA10D-311A-4A4B-91B9-B4C2C583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A5ED94-F0AB-4C7D-8B50-8D8DD05C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0E5D28-F5A5-4740-A795-A11346E6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863BBA-7654-418B-A2FC-1E8776D9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21A624-323F-49B8-8406-59058075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A856F3-1CE6-4C3D-8537-E8D0B6A3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0FCDA1-26C2-4CC9-9B6F-61BD83A1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049BD4-0CE5-4176-B772-F87A43B0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5FAADD-5E9E-4D5C-BBB0-4FCDC39C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EAA565-5D8D-43BD-A8EA-CA562055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116C65-107C-44B6-8DF0-29508BF3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1D4D01-B42A-4CA9-A72E-F75EC48A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B2C646-8A26-4987-BBCF-9C606CCD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D6ED1D-B7BB-4678-B2B5-83EAF5CB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DFA3E4-94AC-4284-90DD-424E739D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B2FB50-979F-4992-B859-35CE4632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45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453A"/>
                </a:solidFill>
                <a:latin typeface="PingFang SC"/>
                <a:ea typeface="PingFang SC"/>
                <a:cs typeface="PingFang SC"/>
              </a:rPr>
              <a:t>风险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D386E6-A423-444F-874E-C4B42FE3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幻觉为什么会发生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885420-9A3E-48D9-8E9D-9E82ED78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447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AI 会生成像真的答案，但不保证事实正确。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6CFE03-CA37-4B91-85DD-4811F169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5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3A4E46F-2642-4F77-9555-31730A26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它优化的是“合理的下一个回答”，不是事实数据库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40F7233-D4CF-4675-9349-4FD7B217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5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540D125-9C6E-445B-B68E-5B672956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越缺上下文、越缺来源，越容易编得像真的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DDD3E23-45AF-453E-8436-D2F89705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5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94B31BD-50D9-4AF1-A476-9713001E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053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重要内容必须要求来源、交叉验证、人工判断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C398DC3-F2A5-4714-A7CC-FD781FA1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162050"/>
            <a:ext cx="60388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4902"/>
            </a:srgbClr>
          </a:solidFill>
          <a:ln xmlns:a="http://schemas.openxmlformats.org/drawingml/2006/main"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22ca462454417c"/>
          <a:stretch xmlns:a="http://schemas.openxmlformats.org/drawingml/2006/main"/>
        </p:blipFill>
        <p:spPr>
          <a:xfrm xmlns:a="http://schemas.openxmlformats.org/drawingml/2006/main">
            <a:off x="5391150" y="1280517"/>
            <a:ext cx="5810250" cy="326826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85721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70cf0f1dab4970">
            <a:extLst>
              <a:ext uri="{96DAC541-7B7A-43D3-8B79-37D633B846F1}">
                <asvg:svgBlip xmlns:asvg="http://schemas.microsoft.com/office/drawing/2016/SVG/main" r:embed="Rab686d018e2d41d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C280F8-B93F-4EFA-913E-99D715B7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9F0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9F0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EE7B41-14CD-4467-A612-A640D1B5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"/>
            <a:ext cx="4000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89A92C-09A7-472A-A698-C9BBD071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3375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rPr>
              <a:t>Part 01 看懂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0941D8-BA4E-450D-8D87-829BEA7D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B7E57F-0495-4128-8364-FCF0B473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522AC7-5FEF-4C17-9C37-3505FC8B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65940D-F3D5-4C3F-8300-9D442554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73E5B5-36A0-43C3-BB47-8F3540C9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1E2D1A-D50C-42F7-A139-321091E7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B637B6-ADC0-4011-9200-0C73485C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88EF62-1457-43D7-8247-6D7FD80B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B4286F-2C44-46E4-88C7-08F4CC8F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963578-E7D2-4045-9454-8F178C90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6757CC-C9B9-4665-88E3-2B59EF4E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9895BE-475C-412F-8DE9-BDB7DDDF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8B5613-8DE2-4FF5-B788-56134B31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50C322-2DD7-4BA9-A1CA-2861411C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204E2B-05E4-43D2-B1A8-453337C7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A2DF58-4D20-472D-9670-ADFA6D36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0944B7-8A28-40F0-AF46-BBCD32F9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543FFA-DB3C-44A1-9FA4-6FC3E21D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F77251-377B-4929-9DF9-1E2B0B6D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636747-5DE4-4193-9D87-E81BD68F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63CBFB-1BA2-49E8-9999-BB05AC10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A1FC5D-E6ED-4E55-ADC1-00190BA1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413170-9F0A-4728-8637-6392A8F6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BF655A-387C-478D-8159-8E8569E9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21FA19-ACBA-40AE-BF82-7AA6DD14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AE8566-3D26-4BA8-AF9D-C3F381EA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F12BDE-4118-4012-8747-13AF8638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C5BF60-E894-4B6E-A5FA-0B7351FE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9E6F60-0DB5-438C-B251-A4D4D98D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DAC712-6837-4E71-BEA2-F2CC442C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F5E5ED-4C8C-4EDF-B3F9-1C94297B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B17419-BFE4-4CC8-B551-592437EC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C13F1A-58A9-43DE-A09A-C223D1F0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9F0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9F0A"/>
                </a:solidFill>
                <a:latin typeface="PingFang SC"/>
                <a:ea typeface="PingFang SC"/>
                <a:cs typeface="PingFang SC"/>
              </a:rPr>
              <a:t>能力扩展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B32249-715B-4A85-A0B5-BB699C2E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RAG、多模态、代码能力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85C863-D84E-4405-A24F-F653D952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447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AI 正在从“会说”变成“会查、会看、会写程序”。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DF154EA-490D-4427-BE74-22706FFC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6933A89-9BB7-4637-AA5B-3BF7E520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RAG：像开卷考试，先查你的资料再回答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3457D1-7472-4A86-AD9B-63948303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851ED3-F653-4805-8193-EC2AFC93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多模态：文字、图片、音频、视频开始合流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4CDD14B-CFF8-40FB-9E30-8A27ECA1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1379F52-4152-420F-A298-3FBEA43D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053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代码能力：AI 可以把需求变成可运行的小工具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D61F7B8-90FC-40DE-A46F-FC241210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162050"/>
            <a:ext cx="60388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4902"/>
            </a:srgbClr>
          </a:solidFill>
          <a:ln xmlns:a="http://schemas.openxmlformats.org/drawingml/2006/main"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f0a0e6b7894a8a"/>
          <a:stretch xmlns:a="http://schemas.openxmlformats.org/drawingml/2006/main"/>
        </p:blipFill>
        <p:spPr>
          <a:xfrm xmlns:a="http://schemas.openxmlformats.org/drawingml/2006/main">
            <a:off x="5391150" y="1280517"/>
            <a:ext cx="5810250" cy="326826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6804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7db2e84a434d72">
            <a:extLst>
              <a:ext uri="{96DAC541-7B7A-43D3-8B79-37D633B846F1}">
                <asvg:svgBlip xmlns:asvg="http://schemas.microsoft.com/office/drawing/2016/SVG/main" r:embed="Ra223900197c642a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71F8B5-2389-4B8F-AD1F-97C014B8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800100"/>
            <a:ext cx="746760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4902"/>
            </a:srgbClr>
          </a:solidFill>
          <a:ln xmlns:a="http://schemas.openxmlformats.org/drawingml/2006/main"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af240be8894bf5"/>
          <a:stretch xmlns:a="http://schemas.openxmlformats.org/drawingml/2006/main"/>
        </p:blipFill>
        <p:spPr>
          <a:xfrm xmlns:a="http://schemas.openxmlformats.org/drawingml/2006/main">
            <a:off x="2971800" y="916781"/>
            <a:ext cx="7239000" cy="4071938"/>
          </a:xfrm>
          <a:prstGeom xmlns:a="http://schemas.openxmlformats.org/drawingml/2006/main" prst="rect">
            <a:avLst/>
          </a:prstGeom>
        </p:spPr>
      </p:pic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09fdcc365b4f7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4095750"/>
            <a:ext cx="3048000" cy="1714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215280-C226-43A3-B98B-7E3657C5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F62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62F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3A0E8C-910C-41A0-81CD-CAA527DE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"/>
            <a:ext cx="4000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39E41D-D1C9-494B-9DE5-BEEC0735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3375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rPr>
              <a:t>Section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AA9694-0335-4EF7-B5E7-3425AEAC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E36780-CDBE-423D-878B-40306479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C17E4D-6122-4F9B-9B72-0F4E0367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40A32B-9E52-4BC7-81B7-021CEA7B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05171C-9F69-46B1-BED4-3FA36264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996075-A8A1-49E7-B8FA-2F598482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B19265-560E-4F9D-A5C6-8D3909B2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C64D50-EA15-4B15-8CEB-50E94683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A8FDBB-82F8-440A-A8AB-E409E326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C7E637-B5F8-4B7A-921C-F81090F5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5E44A8-7FAC-4C1E-B9BC-BEBF8CA7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36266B-F83C-45CB-96F8-E4D9502B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392503-D28C-4A62-9FF4-4A8EA9B9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0C846B-F137-42EA-BDAB-6A539551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024C0B-2608-4685-8781-40693553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A45038-754B-4E4E-8AE9-C91A7EB1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6CE098-47C5-4E1C-B01D-D5DA7C86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3EEF35-90D2-43D6-B9C2-0513F75F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E1B7EB-97CF-40CF-BCB5-5B99CF05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13EBE0-FF56-4B44-ADE3-BCA9785E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58007A-A6E5-43A9-9480-E073C659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EE5376-CCA6-42C3-B99A-043FBF86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F18C8A-C55B-48F0-A33F-E84A50C7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14F5AF-F2DC-4FD1-91BC-9F832EBC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D931D3-6F3F-4DA6-ADE1-D4E9664F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DB6C9A-FEDE-409E-B9B8-20A601B8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86B070-8804-4D89-B106-EBF7FA38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9428C7-2896-491A-865B-C1BC1F4E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13C668-8B01-4E98-B719-282AE94C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538C81-55EA-456B-9896-150E6C90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74D1FB-A2B6-4169-BBEB-2EBD07E8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F17D50-B012-40C8-A752-D8D80C3F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CBCC6EC-3A16-42E7-AB26-AA89E739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5F7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5F5F7"/>
                </a:solidFill>
                <a:latin typeface="Aptos Display"/>
                <a:ea typeface="Aptos Display"/>
                <a:cs typeface="Aptos Display"/>
              </a:rPr>
              <a:t>Part 02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A67C91-F07C-48C0-AA32-4E0EECB2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495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F62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BF62FF"/>
                </a:solidFill>
                <a:latin typeface="PingFang SC"/>
                <a:ea typeface="PingFang SC"/>
                <a:cs typeface="PingFang SC"/>
              </a:rPr>
              <a:t>选对 AI 工具</a:t>
            </a:r>
          </a:p>
        </p:txBody>
      </p:sp>
    </p:spTree>
    <p:extLst>
      <p:ext uri="{BB962C8B-B14F-4D97-AF65-F5344CB8AC3E}">
        <p14:creationId xmlns:p14="http://schemas.microsoft.com/office/powerpoint/2010/main" val="182372352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6a7214b8834ac5">
            <a:extLst>
              <a:ext uri="{96DAC541-7B7A-43D3-8B79-37D633B846F1}">
                <asvg:svgBlip xmlns:asvg="http://schemas.microsoft.com/office/drawing/2016/SVG/main" r:embed="Rdfe6dd2907464ce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19441D-8581-4210-A208-2598E6C1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F62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62F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4B3D2-C441-4014-AC5C-31856E57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"/>
            <a:ext cx="4000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BE37B2-ACDA-4F87-A3F1-923188E4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3375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rPr>
              <a:t>Part 02 选工具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1E7D33-1778-474D-A8F5-C59ACE70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E6A192-E0E8-4B0C-B683-E62E7FA5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90E03C-C8BB-4F54-87C9-C493E027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362382-CE9E-454A-B27D-697E0282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B8BB3C-6666-48DC-A8DA-5D37A073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9091A2-AC37-4932-A9F1-A2E7106D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9CDBEA-F4E7-4554-B397-FCFABB2F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B7491C-E73B-44FE-9D24-D54FC4C5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9CF3EC-48B8-47FE-8905-1DC673E0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8C53D0-F5CA-415E-9CE7-A4CB3A01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ACAC8D-6039-430A-84B4-7D5913DE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DEEC5B-B722-4635-902E-AA3F8384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164623-E40C-4D0B-AABC-28C37374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775625-987B-48B1-B206-D19CCDFE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8FC24B-C4CB-4F64-B851-F3291DA5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C38F37-EA5A-4749-9756-6B295203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2C6439-473B-4702-A08E-1A30C4A0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C35BA9-381C-47C6-B170-E71576AC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80B31F-F0E8-4BF3-8FAD-F30B1D25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FF517F-2492-4EA3-870E-12F9DCE5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F29EBD-AC34-4483-89B7-D102C355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8843BA-729B-49B2-80E5-C9D99E03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96443A-45EA-44FE-8B17-EEE21889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83F23D-C4DF-45F9-9903-7193E0BC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7CE068-2DA9-43DD-9807-C13337E9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05A8E3-9E1D-4819-A772-23B5A454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706639-17D1-434F-969B-79E5A8C3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CCB23C-3B28-4CB6-90F3-63BD2DA5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144A18-D0C1-4EC6-9ED6-992B3BBA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E5B24F-10C5-4775-9878-DB9FD8CA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DD3EA6-6B71-4C91-9170-D11DFA5A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E19086-54A3-4144-A186-B4475B36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B7FE69-992D-415E-AF6B-E38CE21E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F62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F62FF"/>
                </a:solidFill>
                <a:latin typeface="PingFang SC"/>
                <a:ea typeface="PingFang SC"/>
                <a:cs typeface="PingFang SC"/>
              </a:rPr>
              <a:t>工具地图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7CFB2A-2141-40D8-B34C-3B2F0612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不按排行榜选，按任务选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91EBBD-BFA9-43F1-A914-19112D64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447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先问任务是什么，再问哪个工具合适。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8B4B7B-1347-4E5D-9DB5-386E29C2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7AEA84-EEF2-4FAB-A423-C88BCC3F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问答、搜索、写作、画图、视频、代码、自动化是不同任务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96114F-E46C-427F-A7CF-67736DFE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BFD20B-C63D-4D7C-BC9D-D23AFA3C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一个工具可能综合强，但未必最适合你的场景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ADF9324-3D1F-402A-AEE4-C0694312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C083F5B-1658-4ECD-A5F4-FBBBAA01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053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选择工具时看结果质量、上下文、成本、是否能接文件和工具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6E9D98F-29A5-4343-A5D3-F8F77AA7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162050"/>
            <a:ext cx="60388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4902"/>
            </a:srgbClr>
          </a:solidFill>
          <a:ln xmlns:a="http://schemas.openxmlformats.org/drawingml/2006/main"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19944765f24d93"/>
          <a:stretch xmlns:a="http://schemas.openxmlformats.org/drawingml/2006/main"/>
        </p:blipFill>
        <p:spPr>
          <a:xfrm xmlns:a="http://schemas.openxmlformats.org/drawingml/2006/main">
            <a:off x="5391150" y="1279648"/>
            <a:ext cx="5810250" cy="327000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2896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582120b67640c9">
            <a:extLst>
              <a:ext uri="{96DAC541-7B7A-43D3-8B79-37D633B846F1}">
                <asvg:svgBlip xmlns:asvg="http://schemas.microsoft.com/office/drawing/2016/SVG/main" r:embed="R50133e4d56a54f1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FC333-1B38-4556-96FA-A37669C5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891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891F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650D5-AD18-4EBA-91CF-986322A6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"/>
            <a:ext cx="4000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6F24BB-2785-47F6-91C3-07DB137D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3375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rPr>
              <a:t>Part 02 选工具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E1AA0E-4227-47FA-9039-17BFC7AD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EEF6C2-3B81-4A00-96AB-62D78B2D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9A8092-A7EE-4A50-AA0F-80EF6062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DAF8AB-447F-41D1-A7B0-7C0EE16D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580837-F527-4B61-B06E-62307D26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2A8243-FD32-4FD5-A5A5-879DC2E4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BD4E61-BC15-46B5-A0C9-44A85A82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9EFA1F-3C2C-4172-888C-B308E315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A7C87F-9879-43BF-94A2-2DF06E54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BDDCEF-4281-4E21-96A0-EF15C96A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DC0246-5F04-4E6C-9DCB-7C2905E5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BA21F5-95AB-4EA5-926A-8D6DF0FB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04F357-18F5-4441-B0D4-7CB425EA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FFA2A8-8CE8-4EE1-A4EA-668CD8BE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B92390-BF21-4159-BC67-F04DA812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E1C45F-DA2B-4438-9D56-8CB01C85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D9F75A-1D0F-4E2F-A576-E58A3D69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A5B04B-D6EE-4E8A-AEC7-31E04126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F0283C-2D59-4CE4-A5AF-2E1434FB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B59649-1FE3-4323-BBA8-4BEA4E0D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DAE217-705A-4051-8E21-FFC714D5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BAC91D-FA0D-4496-858E-7973A500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E007EE-2B6A-4EC4-BFDF-7C2BB7AB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832F1A-A443-4EC0-8B5A-98F7CB8C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86A4B4-B8CC-472B-919F-888483B9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BDE89A-BE7A-4E81-A377-C0FF5A36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ED07BC-6856-4489-819E-86D2E7A4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4D960C-0A33-4505-8A6A-2D18190F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FBF30F-50EA-4B90-A8F9-BB26F03F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C204E9-6210-429F-8B62-6C5A5123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766AB4-A4C8-41C2-AE61-35F69C7B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AABCFD-3DF9-439D-B4A1-B8EB5D98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A0CAB2-4F46-41C1-AEEE-A371B377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891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891FF"/>
                </a:solidFill>
                <a:latin typeface="PingFang SC"/>
                <a:ea typeface="PingFang SC"/>
                <a:cs typeface="PingFang SC"/>
              </a:rPr>
              <a:t>助手对比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802317-CC5C-40D8-B8ED-85682199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主流助手怎么选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C7BACC-681B-4D0F-8A03-9D872DBC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447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GPT、Claude、Gemini、DeepSeek、Kimi、豆包各有适合场景。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E28C5C2-128D-4C1D-A944-DA44A741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123D95-7F27-4CFB-A02E-F8686D53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综合问答：看稳定性、联网能力和引用质量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8DACEF-6068-44D1-B2F2-032BEF59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996605-DE28-4736-ADA3-798C0690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长文处理：看上下文长度、文件理解和摘要能力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0385B8D-E738-4729-871F-99539B5F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B587CA9-F631-40A1-B747-4A63345E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053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代码和自动化：看能否读工程、执行命令、调试修复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9A52900-5B1E-4D35-A355-FB0E3CDA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162050"/>
            <a:ext cx="60388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4902"/>
            </a:srgbClr>
          </a:solidFill>
          <a:ln xmlns:a="http://schemas.openxmlformats.org/drawingml/2006/main"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28eb129da8422b"/>
          <a:stretch xmlns:a="http://schemas.openxmlformats.org/drawingml/2006/main"/>
        </p:blipFill>
        <p:spPr>
          <a:xfrm xmlns:a="http://schemas.openxmlformats.org/drawingml/2006/main">
            <a:off x="5391150" y="1280517"/>
            <a:ext cx="5810250" cy="326826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26094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679e21d0b84567">
            <a:extLst>
              <a:ext uri="{96DAC541-7B7A-43D3-8B79-37D633B846F1}">
                <asvg:svgBlip xmlns:asvg="http://schemas.microsoft.com/office/drawing/2016/SVG/main" r:embed="R4452083b791f465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9EEEFD-797E-461E-B26F-EDF66178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4C75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4C759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EDC32-1D93-41D2-85DF-EE305557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"/>
            <a:ext cx="4000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40150C-ED6B-4288-A674-B02A0306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3375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rPr>
              <a:t>Part 02 选工具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07A17D-6EFD-4672-825C-EF84B830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0FD10E-F034-49D7-9E5B-E2545506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1B154A-3B60-4D88-A309-D5DE924E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E47EC6-BD0C-4EA6-9AD2-8FCA0357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172EF8-AB6E-498D-894A-60B65680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8F9FA3-67A9-4473-B69C-92BDC30B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F4F1F3-D0C6-4079-9152-96A88613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825925-FD59-4875-BCD9-CF01C65B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EFA5D2-4FCB-4CFC-89B0-092B0497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1F989F-3EA7-4C3B-8064-C6DD1337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F9FED6-FE1A-4A8C-9877-456CD719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B51583-685D-4A1A-8973-6D076261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85B55F-205C-4C16-B8F1-BC422B07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16C15F-A683-4E19-8029-A915679A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DA3F1F-CEAC-4798-B473-5F6E981D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B425FD-C266-425B-8851-B337C7DB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6F3835-B6B7-441C-8F8E-E5EFCAFF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76797A-6816-47CA-AA85-8F5B7996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C9CA36-35AE-4E71-8BC4-F17111B2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6B77D6-AAFF-42D7-9C36-16FDDAE1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5861FA-B27B-4BD0-AE4B-DB904475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A5AF33-9D82-4B8E-940D-1BEA1889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28C223-3DF3-48BD-B1D2-47CF7929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6F7D44-76DB-4B98-BF58-5B0F8357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EC1B73-D79E-438E-9737-4C0C0ADC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6F523D-22A9-4EFF-9D14-759D1C2A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609D70-6C1F-4B6C-AE13-39C56944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14EA80-C965-4CEF-B09A-D725E385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5FC78D-27A3-4241-9504-1B9C0E3E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82E485-167F-4C43-BE87-2BE0EFA9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EB0233-7AD3-44AB-A774-B72C7BDB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A58217-748C-41D7-A349-7FCDF258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27F152-2EFB-45BA-8CD5-A160C4AA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C75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4C759"/>
                </a:solidFill>
                <a:latin typeface="PingFang SC"/>
                <a:ea typeface="PingFang SC"/>
                <a:cs typeface="PingFang SC"/>
              </a:rPr>
              <a:t>从回答到执行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05C1A0F-DC64-4ED3-B3EA-063961D2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Agent 是什么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2238CC-16A9-4171-A6BC-A2038939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447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Agent = 有目标、会拆任务、会调用工具的 AI。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D9C822-E8B6-4F42-9D86-37E30EFB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E052F1-4E33-4709-933F-2A0305CA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普通聊天：你问一句，它答一句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A23529-85A8-443F-BC70-33827E11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93CFDB-5599-480C-AFC2-8DBD7128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Agent：你给目标，它拆步骤，调用浏览器、文件、代码等工具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6B99F15-1280-420E-91AB-D20C7BF9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DBA134A-EFDF-47D9-A2B1-27534A19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053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关键差异：它开始影响真实环境，所以更需要权限控制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8F4001C-BF1F-41E4-A7E4-BBE3E438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162050"/>
            <a:ext cx="60388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4902"/>
            </a:srgbClr>
          </a:solidFill>
          <a:ln xmlns:a="http://schemas.openxmlformats.org/drawingml/2006/main"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a3b6faa6dd456d"/>
          <a:stretch xmlns:a="http://schemas.openxmlformats.org/drawingml/2006/main"/>
        </p:blipFill>
        <p:spPr>
          <a:xfrm xmlns:a="http://schemas.openxmlformats.org/drawingml/2006/main">
            <a:off x="5391150" y="1279648"/>
            <a:ext cx="5810250" cy="327000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05051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c5bb25cb3142ee">
            <a:extLst>
              <a:ext uri="{96DAC541-7B7A-43D3-8B79-37D633B846F1}">
                <asvg:svgBlip xmlns:asvg="http://schemas.microsoft.com/office/drawing/2016/SVG/main" r:embed="Rb885d35b5e61440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1B458C-7803-437E-AE51-F45BA3C7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9F0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9F0A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F2989B-F772-4CF8-A6DB-0128D662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"/>
            <a:ext cx="4000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EA8C54-5125-4A96-8B9C-C921CD6A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3375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rPr>
              <a:t>Part 02 选工具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65A481-2C2A-4881-AC94-22562894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860A9E-43C7-46A5-93B2-98110FA7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BDEAAA-10EF-467D-A7FF-02601BFB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C105A8-F501-4BC1-9B01-CF596D67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A4392A-82DB-4A49-80BD-2111F8BA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FF7A9F-013E-441D-99D6-5E6F1F51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38D33A-DAA4-4522-8D9E-E149F6D7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EFEA98-8273-4CF8-9CF6-7DB584FD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61AF4B-7224-4F26-B534-323EEAE0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788E89-037E-4A72-A389-EA49947E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9D74CC-21CD-4ED5-AB5D-244A890B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AF605D-BE68-4B7F-BC4F-B169ED42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94175F-6BD8-4A88-B9D4-2DD495B3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72B218-D72D-48BA-BE66-D56018C8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8C652D-C408-4F5F-9426-402D2466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03875D-F3F9-4026-9E99-1AFC03A8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A770C8-0FF7-46D4-9A97-69BD3979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641CF4-D9DB-47FE-AF80-DE3EDFE8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C29B22-3989-4B4F-92E1-87DF6E9C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C381DF-DCC7-4244-B245-5517BD03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3FB590-1B13-4BD9-ABA4-E3DDAE9B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7D91C3-0E2C-4526-AE06-94F3F586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E54C0A-345C-4267-A374-0BCBECE7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1044E6-58D5-4D6C-9EAD-F86FA97A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F77A9C-093B-4B11-A187-1B2FF369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3CD83F-D332-420D-94ED-12A98D31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4CB946-A118-47EA-9C37-C8B54F23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79B6D7-77E3-459C-898E-05198AB9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5520C3-FE52-40B2-A315-ACE4AFF0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DAC1E5-7659-4BFC-8631-D20E2B40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B52282-D693-4923-9993-789EDB23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A3F969-83BC-43D3-8954-43620E82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088C66-5376-44EA-B9AB-A4CC9AD5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9F0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9F0A"/>
                </a:solidFill>
                <a:latin typeface="PingFang SC"/>
                <a:ea typeface="PingFang SC"/>
                <a:cs typeface="PingFang SC"/>
              </a:rPr>
              <a:t>工具生态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BDE486-FFE6-4870-BF92-06AF3E30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常见 AI Agent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F7B2F4-F662-44F1-B72E-7A7933CC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447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小龙虾、爱马仕、OpenClaw、WorkBuddy 这类工具的核心是替你操作流程。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CE6229D-5A7F-4D9B-9EE8-A4671BCD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F600614-2AF2-4755-AF5D-FF9DEA87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浏览器 Agent：替你找网页、点按钮、填表、抓信息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BC8FDA9-E13C-4F94-B66A-B54B390C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82A3491-1F61-45F5-8834-778028EE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电脑 Agent：能看屏幕、控制应用、批处理文件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19ED1F5-2429-4782-B329-373F37BD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45AB8E6-2E13-4475-9037-B35CAE51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053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开发 Agent：能读项目、写代码、跑测试、修 Bug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A317D42-5A94-4D27-B23F-551876A8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162050"/>
            <a:ext cx="60388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4902"/>
            </a:srgbClr>
          </a:solidFill>
          <a:ln xmlns:a="http://schemas.openxmlformats.org/drawingml/2006/main"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f48a03792d4ba5"/>
          <a:stretch xmlns:a="http://schemas.openxmlformats.org/drawingml/2006/main"/>
        </p:blipFill>
        <p:spPr>
          <a:xfrm xmlns:a="http://schemas.openxmlformats.org/drawingml/2006/main">
            <a:off x="5391150" y="1280517"/>
            <a:ext cx="5810250" cy="326826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33730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3c9267e1ad4c5f">
            <a:extLst>
              <a:ext uri="{96DAC541-7B7A-43D3-8B79-37D633B846F1}">
                <asvg:svgBlip xmlns:asvg="http://schemas.microsoft.com/office/drawing/2016/SVG/main" r:embed="Ra4ff52f885aa4bc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957D93-2AF7-47E9-AB50-15640295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891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891FF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380848-BC8E-4935-BFCE-F9E7CD3A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"/>
            <a:ext cx="4000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586C12-9026-4DE7-8EE5-EB9966EE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3375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rPr>
              <a:t>Part 02 选工具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062B4C-2FF2-4D40-B649-DA0F61B1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F6494F-231B-41BE-931D-28C52116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430BDC-27F1-48E3-9CAA-26507A35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5D39C8-1AF7-47CE-ADF2-71E2DC09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0E583-0104-4E51-ADAB-5145ACA0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CECFE6-1FAD-4553-B2A9-F08870A3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7BAAF1-0B9C-4E5A-8F63-D5C29693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776B49-CE49-4515-8959-17010ACF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60398C-447B-4DEA-A35D-3385425F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2139BF-02BE-495B-A554-DE6BD268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C0E596-DA59-4124-8272-61A44E1B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A8F271-4021-42D2-8C4E-02ABC281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F84552-C94D-469F-A7E8-F53AFBAF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D03074-4F01-4C81-9224-E4DC9932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B76D88-2EEB-4A2F-B7CA-63B3C337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2CC56A-FFFC-4D68-9073-8D150E46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BD5F3D-1624-4417-A634-F63BD32C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524253-A9F4-4B43-B65D-15C68943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C4DD15-431A-4DEC-A01F-27E0846D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905854-8612-48B2-B3ED-C1E3A377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570A68-CF4D-49F3-9724-9C1B212A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F55B44-EA93-4A32-A5EB-4F03371F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0CED86-5F1A-4409-B13E-ADBBC710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815835-517F-43A6-8729-5D8AA7A7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94B57C-5363-418A-B730-9A6A7CB3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CF061A-4AB9-4542-9540-ADFC85F6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A2C5DF-FCC6-40B0-9C29-712C474D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30F288-7AD9-44E0-8C0C-DB3A7189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62F4EA-D8F2-4CFB-87F8-C2C3398E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A338D2-F557-4564-B62C-DB8F9C43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A56F6E-617B-4E3A-A9C2-6716305A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475225-465B-4F9F-ADAF-12E1A468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7DC35B-84DA-4196-81FC-A942EBC6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891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891FF"/>
                </a:solidFill>
                <a:latin typeface="PingFang SC"/>
                <a:ea typeface="PingFang SC"/>
                <a:cs typeface="PingFang SC"/>
              </a:rPr>
              <a:t>连接能力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C5F29D-640A-49D9-B0A2-355297BE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MCP / Skills / API / CLI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0D8C0B-09E2-4A51-BBD4-EA8B27F1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447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这些决定 AI 能连接什么工具。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488D23-D1A7-4E24-886D-829A7FB9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89AF9EA-496D-431E-9CF9-39601AC1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API：软件给外部调用的正式接口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6C93D58-70B0-4F5F-9CB5-30E5ED43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4201DC-B5E6-4E39-9D0C-0D849C86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CLI：命令行工具，让 AI 可以执行本地任务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561FBD-8BCA-4907-8049-51F594CD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14046BD-EA6D-4384-9A41-7396F255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053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MCP / Skills：把工具、数据和流程包装给 AI 使用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2694FE2-C247-4D13-9CDA-FCC52B03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162050"/>
            <a:ext cx="60388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4902"/>
            </a:srgbClr>
          </a:solidFill>
          <a:ln xmlns:a="http://schemas.openxmlformats.org/drawingml/2006/main"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840d0159a6422c"/>
          <a:stretch xmlns:a="http://schemas.openxmlformats.org/drawingml/2006/main"/>
        </p:blipFill>
        <p:spPr>
          <a:xfrm xmlns:a="http://schemas.openxmlformats.org/drawingml/2006/main">
            <a:off x="5391150" y="1280517"/>
            <a:ext cx="5810250" cy="326826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67994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ac672bd9e143b7">
            <a:extLst>
              <a:ext uri="{96DAC541-7B7A-43D3-8B79-37D633B846F1}">
                <asvg:svgBlip xmlns:asvg="http://schemas.microsoft.com/office/drawing/2016/SVG/main" r:embed="R0653112332d64ee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35DE4F-64A2-4B73-AA3A-A4C11F0A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4C75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4C759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2E986C-A5BA-4631-A6D8-B17E19EB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"/>
            <a:ext cx="4000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0D0FC-1390-472F-BFD1-ED5C85A7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3375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rPr>
              <a:t>Part 02 选工具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0958C3-A7AD-48BE-A5EC-C69FA84F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BD0567-E7B8-449D-AC4E-BE66E9CD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D3736D-FF15-4F2A-B52D-FAEA6401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D08955-2F0D-4E7B-B3D0-C2CCC0EF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7464A6-84B3-4D17-A6A4-7664E2C9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595853-3FCF-4B58-94BC-58FEA3F2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96E18F-84A8-4B91-B249-F639749F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86E8D4-FBDF-4178-8AEA-10B16C7A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B69CDE-C831-474D-A742-B762AFA9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2798BB-1777-4252-BD8C-D355B902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E8E72D-4A83-4161-92B5-1E3F5FCA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2750B8-04E4-445B-8F8E-D6D67FED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6CFCE7-04FA-4CE5-811C-F5DFC6E4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F9DF59-DE3F-4B8F-A982-985F6F14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9673F8-7ADF-4F0F-A307-50517258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885298-011C-48FC-AC2E-6257F642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8A3295-1783-49A4-B2B0-A85C1DA0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A6AA4A-FD80-43FB-B821-D9425453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C8A784-5861-4227-8A92-F0DAE86B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668F13-6F21-4895-9923-D64FC4B1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B2AE3C-1B56-43F6-923C-46B051F4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7AD2F2-43F3-4F08-A57B-4BD5B6A7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4A76AA-8223-40B2-8D9E-C015084C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EC1277-9F2E-4561-9133-A0E0025A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ECB57B-51B9-4803-B452-834993E8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63CFB3-AD69-4633-9899-4F64F752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5F38B2-4A09-47A3-B9A3-6D14DB36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A5BDCA-4794-44FE-994A-0D8D164B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68D06B-31F0-4CEE-B3D2-71015DEB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EB7D01-B84D-433F-AE23-FD0C49BC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5CC86E-9E8D-4FBC-97DB-F7233878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AA6FC8-B1BE-4129-B502-83AD5011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69ED5A-5592-409A-BE22-7766CA52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C75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4C759"/>
                </a:solidFill>
                <a:latin typeface="PingFang SC"/>
                <a:ea typeface="PingFang SC"/>
                <a:cs typeface="PingFang SC"/>
              </a:rPr>
              <a:t>使用场景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A871A8-34A8-4890-BA33-D8B028E3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普通人最该用 AI 做什么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579FBB-B91B-4467-9CC0-81527C59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447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重点不是聊天，而是省掉重复劳动。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7033817-2581-49EB-82DD-EE6E93E3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775D7F-76FB-4466-BA58-A755EC61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文档：摘要、改写、提纲、检查逻辑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D610EB-B0C3-4889-B5D3-38E337DC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D73C1FF-8CBB-43BF-9973-D6D33921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表格：清洗、分类、生成公式、找异常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8E53F06-B451-4238-8030-139DFB38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C8CCD71-58C2-4195-89B6-886BAB6C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053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自动化：批量整理文件、填表、生成小工具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AB0C346-AB2A-4753-A22B-84CA3E39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162050"/>
            <a:ext cx="60388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4902"/>
            </a:srgbClr>
          </a:solidFill>
          <a:ln xmlns:a="http://schemas.openxmlformats.org/drawingml/2006/main"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f4580ab3d041d4"/>
          <a:stretch xmlns:a="http://schemas.openxmlformats.org/drawingml/2006/main"/>
        </p:blipFill>
        <p:spPr>
          <a:xfrm xmlns:a="http://schemas.openxmlformats.org/drawingml/2006/main">
            <a:off x="5391150" y="1280517"/>
            <a:ext cx="5810250" cy="326826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01612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7b14cd3be54bfa">
            <a:extLst>
              <a:ext uri="{96DAC541-7B7A-43D3-8B79-37D633B846F1}">
                <asvg:svgBlip xmlns:asvg="http://schemas.microsoft.com/office/drawing/2016/SVG/main" r:embed="R5cc4e329d944443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29A806-C562-49B8-A52B-D47ED4D6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800100"/>
            <a:ext cx="746760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4902"/>
            </a:srgbClr>
          </a:solidFill>
          <a:ln xmlns:a="http://schemas.openxmlformats.org/drawingml/2006/main"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209d6f1ac24766"/>
          <a:stretch xmlns:a="http://schemas.openxmlformats.org/drawingml/2006/main"/>
        </p:blipFill>
        <p:spPr>
          <a:xfrm xmlns:a="http://schemas.openxmlformats.org/drawingml/2006/main">
            <a:off x="2971800" y="916781"/>
            <a:ext cx="7239000" cy="4071938"/>
          </a:xfrm>
          <a:prstGeom xmlns:a="http://schemas.openxmlformats.org/drawingml/2006/main" prst="rect">
            <a:avLst/>
          </a:prstGeom>
        </p:spPr>
      </p:pic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44c6855333409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4095750"/>
            <a:ext cx="3048000" cy="1714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9C0372-D14A-4206-9EDF-254EE958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4C75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4C759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E77874-6A4D-487C-9257-B3E4F2C8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"/>
            <a:ext cx="4000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23B16E-0A85-4514-AAA6-7C1218E7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3375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rPr>
              <a:t>Section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1F0B57-D9AF-42AC-95F9-A73B7A72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0F4BEB-5280-4B4E-B6FF-6AB9D1A5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106976-AED7-4B02-B909-3C7985C4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3BE437-23CB-4EA3-A409-284189E3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114BB8-F910-4467-A06B-EB2DC65B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E74207-25A1-460D-AFD1-0DE3D516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B69752-59D7-4DE2-9229-2C8A50B8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8C17A3-B3B3-4D43-A696-07067B2C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66449F-5BF0-4F51-B80B-6704F1EA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751E7D-170C-436D-AF10-4AF2300B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CE7163-D325-4179-A67F-D8CA89CF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35F3B8-BE77-4D1F-BA25-CCF6DAD2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489F37-7036-41F9-8632-BBFAF577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4B5CC3-8FA9-4A83-8F03-DEFA3E76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C78AC5-35E3-4F62-A8C0-0D6EE4B8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EC216C-1992-483B-9541-4CA9C0BB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C35CD7-65E2-4BCD-83BD-3AC06B81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989CA7-9E64-47B5-A5CC-51510A56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662B1D-1222-4723-B3C9-98D1881D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299ADB-8407-4E0D-844C-F39AD544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1DE267-28BC-4CD5-97A1-72774775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2167B6-4B5F-474A-A9EC-14C6ABE2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810571-E343-4134-A4B7-F72BDE92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A874C2-AB00-452E-BBE4-8FC128A5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D32B2A-5D08-4A5F-A253-BDC20263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5CEDE9-1C08-462D-A62C-1F755558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E0E321-1376-4140-B31E-252484E4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CF47DA-0FD9-4BB3-AB24-33BD786B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962923-5EF5-4B42-884A-52531CD8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AE66DF-7F8C-4363-B100-8F21ADAF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F5E41C-038E-4867-8874-163779FC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ABA35D-E59A-40CF-9991-CE2AFF12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BBAB8C4-87FD-4CB0-8301-6D6C2C41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5F7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5F5F7"/>
                </a:solidFill>
                <a:latin typeface="Aptos Display"/>
                <a:ea typeface="Aptos Display"/>
                <a:cs typeface="Aptos Display"/>
              </a:rPr>
              <a:t>Part 03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C3B87E-8054-43BF-BAB3-FACB3EF9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495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4C759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34C759"/>
                </a:solidFill>
                <a:latin typeface="PingFang SC"/>
                <a:ea typeface="PingFang SC"/>
                <a:cs typeface="PingFang SC"/>
              </a:rPr>
              <a:t>把 AI 用起来</a:t>
            </a:r>
          </a:p>
        </p:txBody>
      </p:sp>
    </p:spTree>
    <p:extLst>
      <p:ext uri="{BB962C8B-B14F-4D97-AF65-F5344CB8AC3E}">
        <p14:creationId xmlns:p14="http://schemas.microsoft.com/office/powerpoint/2010/main" val="1889642731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fc1d5dfbab4400">
            <a:extLst>
              <a:ext uri="{96DAC541-7B7A-43D3-8B79-37D633B846F1}">
                <asvg:svgBlip xmlns:asvg="http://schemas.microsoft.com/office/drawing/2016/SVG/main" r:embed="R1a8b2d74a00f436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4A9EE-C554-4887-B3CA-4B2E3878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4C75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4C759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6842B6-A17E-42BA-9C0E-C6AD353B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"/>
            <a:ext cx="4000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A1588F-DF62-4556-8D56-349A8C4F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3375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rPr>
              <a:t>Part 03 用起来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68C552-0552-4698-9E67-EABA73BF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F60B2F-FF86-4D9C-BCA9-788E4E2B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7655D9-DBE9-4CB1-BF70-EA8F7DC4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65D4BB-B5EC-476D-87CC-F85E5AC4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5BDD30-DBB1-47CF-8FAF-979EE8A3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C834D4-38C0-4F7B-B85A-A2B75B59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69A428-E578-4CA4-A034-AC760835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E87F62-EB6A-4342-BB56-02B9185D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5690EB-ABCF-497D-A396-10956BAD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ED8ECB-A00F-48D5-A2C3-F5128468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2241B4-1E3A-46A7-9B07-03CD3F9B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807DD2-B895-4135-BF6D-CE5FA43B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BB4657-084A-4742-B766-A2885959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40009F-2BBC-425B-98F7-76A2B1E2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33E32F-BC34-430A-938D-05BB0A2E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D5BFD2-6959-446D-9D72-4B971B26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67AD05-4FBB-4135-8908-26CFBB2B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7D5A70-42D6-4D51-8AFD-7594EA6E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C61CF3-665A-4306-9E7E-E667A2FA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AE63B8-1D24-4C3E-A392-2A155D13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2A69C3-350A-49CB-9022-5A2DC93A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A9A569-60A3-4ACA-914A-70A9FFE9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61A001-FACB-4875-BB43-41F007BC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353E32-D131-4D95-998C-2EEA7078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518439-5FC0-478B-B593-E93F272B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330277-F055-4FB9-AB67-1FF6F9A0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AD3CEB-F401-4D3D-87C3-C360F0D2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98C16A-AFAA-4E62-8AFA-6D11FD7C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DED908-8EF0-4C02-9532-DF4B040D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4D9329-7B0E-4B45-BF48-CBA064F8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E6567A-A963-4375-ACB7-B76D45C3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BD7FC3-0174-485E-A9B3-84725AAB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6B66D7-679F-48E2-B2FB-AA73FA57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C75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4C759"/>
                </a:solidFill>
                <a:latin typeface="PingFang SC"/>
                <a:ea typeface="PingFang SC"/>
                <a:cs typeface="PingFang SC"/>
              </a:rPr>
              <a:t>真实案例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6FE004-9174-47C4-A3F8-044C77B4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案例 1：马拉松报名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753BD1-C2E3-46CF-B120-53DC2A97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447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AI 可以帮你拆流程、准备字段、减少临场手工时间。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CCA928-C9B4-44E4-9EB9-CBB4B7AD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31BA11-0881-4E0E-A507-263705BC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先让 AI 分析报名流程和可能的页面入口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E38C549-6A56-4C2F-BA6C-0BF0254D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CAF839-8A4F-4243-A934-43881F93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提前整理姓名、证件、紧急联系人等字段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5EC69EB-0809-4FA0-854E-E186CE87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4A768-359A-4CF0-9CF7-616CCEAE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053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到点快速填写，并截图/订单号验证结果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5C20FF4-A0F8-4C4D-BF47-731316A0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162050"/>
            <a:ext cx="60388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4902"/>
            </a:srgbClr>
          </a:solidFill>
          <a:ln xmlns:a="http://schemas.openxmlformats.org/drawingml/2006/main"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c6c6ceae8a48e4"/>
          <a:stretch xmlns:a="http://schemas.openxmlformats.org/drawingml/2006/main"/>
        </p:blipFill>
        <p:spPr>
          <a:xfrm xmlns:a="http://schemas.openxmlformats.org/drawingml/2006/main">
            <a:off x="5391150" y="1279648"/>
            <a:ext cx="5810250" cy="327000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0786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281fab5f7b4d74">
            <a:extLst>
              <a:ext uri="{96DAC541-7B7A-43D3-8B79-37D633B846F1}">
                <asvg:svgBlip xmlns:asvg="http://schemas.microsoft.com/office/drawing/2016/SVG/main" r:embed="Rab2c3f887d6a424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1342D6-18F2-4815-AE7A-B10D3902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891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891FF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26235D-7371-4CFD-8C7F-3BFB3797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"/>
            <a:ext cx="4000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44AABB-9E2B-483E-AF60-9BF064D4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3375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rPr>
              <a:t>Part 03 用起来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FB7D4A-98AB-4B21-B8F3-4C395403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180B9C-59F7-4FA8-B2C4-DB4B265C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33CF3D-A020-473F-B9D1-6DED294D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7129CB-E8E4-49A7-990D-AD54F533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89723E-803D-4788-8E86-74F29CB3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13DEAA-E563-43B2-917B-761B8AD7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425E2E-0016-4DF9-8FCE-EB5AA3D5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4A0DE9-EB1E-4EB1-8BE7-349BE3D9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FF4AC6-D15C-4163-85FE-4FA90308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D4AE33-AFB0-4377-942E-10165FAE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2E11C6-3152-495E-BDC3-937D675A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9896D9-9236-444A-BAF6-BB2AAAAC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6AFEAE-86A9-4049-985D-8801AB4C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4A82F6-CAC9-4208-8F83-2E9DDA06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931864-DAEB-45D1-80E5-2308DE71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C5E716-34F7-4AB5-9403-CCD6B7FF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BE4AE0-7228-4CF2-BB34-7FFB926D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4B40CB-A918-463F-B1BE-A6FBE5D3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DF00F4-515A-446C-99B6-E0F393B8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EAF272-69C8-4BFF-9990-4DCEEB9B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9DB8AF-9029-43F4-BAD3-78BDE048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737270-282A-46AE-A950-AF0671A5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3FEF10-9E6E-44A7-BC50-004CF4AF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B2CC1F-5E4D-4A6E-A8E9-8FE22E8D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46F5D6-D355-469B-91E2-96855BF9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67766C-0949-43DA-8376-B64A7F2F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C43917-CA5C-41E7-AC7A-7ECD1BEF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2F624A-F3FE-44CE-8942-B4FCFCC2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C58AD1-DC21-4947-BB90-EA239C75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13B399-CA73-430D-809D-48604FB5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D167AB-E657-4FDD-80EE-DFE4826E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3EFFF8-3FB1-4513-A129-E10EBF4E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788FCC-B9FE-4D2E-80ED-AE83D2E8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891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891FF"/>
                </a:solidFill>
                <a:latin typeface="PingFang SC"/>
                <a:ea typeface="PingFang SC"/>
                <a:cs typeface="PingFang SC"/>
              </a:rPr>
              <a:t>真实案例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66BE65-0B44-4F64-9908-00F1AEEE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案例 2：功能复刻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131610-BD1D-46A7-98AB-A8D4F6F6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447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AI 可以帮你理解公开交互逻辑，做成本地自用小工具。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BC43B7-D9B0-4392-9215-3FA06A52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76579E8-A30B-4ECC-BA15-7E18A10A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先分析公开页面的输入、输出和交互规则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3902A76-3541-48A2-A031-0CFDA7C6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0DC6265-1FA2-4B3C-B243-DDD411B6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让 AI 解释可能的计算逻辑和边界条件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8504FBA-008C-4926-9664-82B1655F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C0E9081-3335-4381-9FA6-48EEA69E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053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在本地做一个自用版本，并自己验证结果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D2C4E06-1426-4184-AF6E-CD5E05B4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162050"/>
            <a:ext cx="60388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4902"/>
            </a:srgbClr>
          </a:solidFill>
          <a:ln xmlns:a="http://schemas.openxmlformats.org/drawingml/2006/main"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128d975280459a"/>
          <a:stretch xmlns:a="http://schemas.openxmlformats.org/drawingml/2006/main"/>
        </p:blipFill>
        <p:spPr>
          <a:xfrm xmlns:a="http://schemas.openxmlformats.org/drawingml/2006/main">
            <a:off x="5391150" y="1280517"/>
            <a:ext cx="5810250" cy="326826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6166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68672b473f41d8">
            <a:extLst>
              <a:ext uri="{96DAC541-7B7A-43D3-8B79-37D633B846F1}">
                <asvg:svgBlip xmlns:asvg="http://schemas.microsoft.com/office/drawing/2016/SVG/main" r:embed="R8ec9b3f9f498492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65CE3D-AC18-4730-A3C6-62370F8F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9F0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9F0A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82ECD2-1E49-48B7-A358-C494DDE6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"/>
            <a:ext cx="4000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E26197-1138-43FF-A967-6B56B857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3375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rPr>
              <a:t>Part 03 用起来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1D88B4-81D7-4863-8423-C45551DB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F228BA-06DB-4CE6-A70F-275D6A01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88E318-1411-40ED-A6C7-29CE06E4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F07A77-9B85-4B2A-8EFB-3920BDE2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05C9EE-543B-472D-AB8B-3DC0565D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A46E1F-BA04-44BA-9499-A89B21F4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3EB22B-9508-410B-91A8-E200494E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BCD9C7-1E2A-4F72-B6B9-5F4BF9FA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BFBD4-0037-4649-8E85-7A21E64F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097734-0F4A-4E90-AF66-99576EBF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07EEF3-D987-441E-B19A-91A3FE68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0050DF-13AE-4593-9BD8-4E4E939D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6A9C43-5030-4EFF-B913-76A1383F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8485D7-FA2F-4BC3-8584-CA61B4E7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A4066F-4411-4F18-BA72-E2AF1B0D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4BCCAB-3E72-46A3-AD5A-B18F3EDA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AF86F2-66B7-4D24-ADFC-07E81909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20DAF9-9FFB-450F-B48D-767E43DF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1B86DD-B70D-4716-8DB5-F28BD6C9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C0D432-6C44-42B5-90B2-E2441BD7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3BEEC3-D756-4A3D-95A6-A4A4AFCB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E64705-50AA-4C82-80EF-7FEB1AB5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0A02B1-ADC4-458B-963C-9F463E36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918E96-9F06-4FFE-93C6-DA005A5E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79D5EA-6492-4218-BAA9-10154CC1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DA7340-134E-4166-AACC-8B512FFB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238057-564B-48B9-A1E8-4113F97C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0ABC1C-BB03-4089-A23D-4BFAD59B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612C35-5D5E-49ED-ADA2-29ABA245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012000-82A6-4636-B7BD-85F2B712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CF8866-B439-413B-9D00-7186301D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ED9802-8891-4BC3-A73C-A074B820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6C65B8-8E05-472D-8361-F1703E1E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9F0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9F0A"/>
                </a:solidFill>
                <a:latin typeface="PingFang SC"/>
                <a:ea typeface="PingFang SC"/>
                <a:cs typeface="PingFang SC"/>
              </a:rPr>
              <a:t>Live Demo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80B229-B727-4881-945E-FE454B20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实战 1：批量处理文件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663CFE-6D79-4E5D-A2AB-B98402C2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447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让 AI 批量改名、分类、转格式、生成摘要。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F09061-9ECD-41E4-A7DA-D5B29489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9CA0FC-CE36-4CD4-A890-009F59AF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任务：一堆混乱文件，按类型/日期/主题整理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6C0D48C-3FE7-46DE-8166-4FA74FC3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039ABD-3D0E-4C26-A53B-192632A1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方法：让 Agent 先列计划，再执行脚本或文件操作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4BAD9D3-7702-434F-A053-73AD5710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3A265A6-A0F8-47D8-AF44-60B2365F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053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验收：输出目录结构、处理日志和抽样检查结果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EDC1989-FC8E-4B4E-87A1-5D150F56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162050"/>
            <a:ext cx="60388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4902"/>
            </a:srgbClr>
          </a:solidFill>
          <a:ln xmlns:a="http://schemas.openxmlformats.org/drawingml/2006/main"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6338fe8a064d75"/>
          <a:stretch xmlns:a="http://schemas.openxmlformats.org/drawingml/2006/main"/>
        </p:blipFill>
        <p:spPr>
          <a:xfrm xmlns:a="http://schemas.openxmlformats.org/drawingml/2006/main">
            <a:off x="5391150" y="1279648"/>
            <a:ext cx="5810250" cy="327000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04502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abaf9852d042b8">
            <a:extLst>
              <a:ext uri="{96DAC541-7B7A-43D3-8B79-37D633B846F1}">
                <asvg:svgBlip xmlns:asvg="http://schemas.microsoft.com/office/drawing/2016/SVG/main" r:embed="Rad63266f2564422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6AF1F6-D642-477B-9F2F-C59C8DF5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F62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62FF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C1D179-DF19-4571-9D4D-84506885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"/>
            <a:ext cx="4000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CB2B69-69C7-4028-9123-95E50E01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3375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rPr>
              <a:t>Part 03 用起来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D79227-AD1D-4EDE-8B10-0981EB73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211E02-79AB-41CB-B197-9A8CE7D5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54A3C0-6C23-4BF2-A4FA-D905E5EF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116D99-B770-43FB-8406-FF3028A7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120D29-F30E-498B-AFA1-D1FC453B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5CEAD0-2AAD-4A43-807D-33EE9334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CF5A9C-C764-43CB-AC70-3A7073E0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B63805-BE67-4F07-B119-C8DE64D2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CB4FCA-59A6-4947-B93C-6C1C3DAF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31D6C7-AF51-4A69-92C8-9A4F52B3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4D8E4C-4CDA-46BE-A21E-85A791E2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EEDBD6-3B53-43C6-952A-0A403A78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5CBBF2-C30F-44E8-A335-C57D573E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20F16C-8D8A-4F48-B03D-2DDBF307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C9B35-8A5E-481F-88D2-18C95662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62E311-BB55-4DB2-AF7C-EEB0CD39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56EA59-0B14-4D17-BDA5-8758C796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C131E4-A313-4285-941A-0053EC34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5F39DC-6040-4378-BE26-DA7A5A89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E46F6E-E7C3-4D7B-8315-33213285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BB965C-4897-48F8-9743-7B204E0C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574805-C07F-43BE-91AD-F569A858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0C1507-D1A6-43C3-83CB-7FBDC6D6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AA618D-2713-43E5-80F4-DB8DC858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55C84E-12C1-43C1-AA42-A9A85BEF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2CE682-ED51-49A1-B240-4A514DC8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CA8DE4-7856-47BF-A2AE-CA9695DC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B2F2FC-19FC-4A8C-B3B6-8FF35BB9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F02824-B331-463B-8414-7188DC2D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CB7C60-7B28-4979-96CD-8404D3F3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F82D5E-98C6-4E5F-8118-1F537F0C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5F1517-A07D-423B-912E-E201B430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CDB958-5BB9-4F62-A105-CC2E8101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F62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F62FF"/>
                </a:solidFill>
                <a:latin typeface="PingFang SC"/>
                <a:ea typeface="PingFang SC"/>
                <a:cs typeface="PingFang SC"/>
              </a:rPr>
              <a:t>Live Demo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045764-3774-4DCB-BF8C-4847378C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实战 2：开发一个小工具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1524CB-2D70-42C8-9BC1-1CB55DAE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447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用自然语言做一个“报名信息助手”。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34B131-F953-4CF6-89DB-1BC92112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A0E788-1351-405F-9956-E07D36B4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需求：保存常用报名信息，一键复制字段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E75F88-9058-4DFE-8137-6CF45CF0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4DA2CB-D925-4690-AB69-1DAFEBCE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开发：让 AI 生成网页/桌面小工具，边运行边修改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688EB1A-8048-4A2C-BC81-9A0FE51F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7D8FAF2-7C04-4DF7-9DD7-8F860622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053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验证：字段是否正确、复制是否可用、界面是否清楚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E89E063-2953-4EAA-9360-25E41C06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162050"/>
            <a:ext cx="60388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4902"/>
            </a:srgbClr>
          </a:solidFill>
          <a:ln xmlns:a="http://schemas.openxmlformats.org/drawingml/2006/main"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a7ef2c5de74fc2"/>
          <a:stretch xmlns:a="http://schemas.openxmlformats.org/drawingml/2006/main"/>
        </p:blipFill>
        <p:spPr>
          <a:xfrm xmlns:a="http://schemas.openxmlformats.org/drawingml/2006/main">
            <a:off x="5391150" y="1280517"/>
            <a:ext cx="5810250" cy="326826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339334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991d7ef4fc41c2">
            <a:extLst>
              <a:ext uri="{96DAC541-7B7A-43D3-8B79-37D633B846F1}">
                <asvg:svgBlip xmlns:asvg="http://schemas.microsoft.com/office/drawing/2016/SVG/main" r:embed="Rbe335aecc820440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7D73C0-45B7-4322-856D-B613B6B8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891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891FF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CB2D77-80AE-434E-8CD7-7505EEA0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"/>
            <a:ext cx="4000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A89829-5EAE-47E1-8BF4-21F037CC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3375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rPr>
              <a:t>Part 03 用起来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FCD2B-24E3-4FC5-8009-E42EE9B1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26E0D-3892-4543-8C18-5EA07CA3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8BE842-D1D3-4735-B7B2-16D32E55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540F07-ECED-42E4-AAB6-219969FF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A6C415-0D76-4870-ACD8-ADD8D3D6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D88D8B-58C1-450D-861A-FC002E10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CC7EC6-71B4-4D36-B26A-1D58EF28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B97359-FA5E-41EA-B5C1-3407175C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68FAA5-FC0E-46BD-8F7D-8418F746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7CBAFA-E06B-45E6-A381-541CC2BC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B8B2E4-ECF5-4997-85C0-AF2EDC60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8DB901-22B3-49B8-982C-09529F2A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6DA676-710D-4E56-97E2-69F0C31F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62A875-A4A8-4B81-A34C-F0CBD200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C56F66-643A-41E2-8A44-7FBED2A3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6A93E2-6C3B-4BDE-874B-F18F4992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5020B0-FE9F-4664-978A-409C833F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FC847F-6C18-46B6-AD5D-DA1525F5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77A0E0-2D0B-406D-B1F9-7603FBAD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5D6CF0-35CF-4EBE-87AE-84014EF3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83E9BC-74EB-4A71-B73E-6FDE8B4A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3BF0D1-528B-4CCA-AE43-017D80A4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822E0A-3CA9-47BB-B139-F6BA8A65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A5545C-24D1-400E-907F-6351FDAC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18D3F0-1428-4379-8DE7-CA59B3E3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0CA176-5639-496C-A302-98D00384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F57329-55F3-487F-A5E4-EB09B104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6D541C-2300-4D52-8433-503255E2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B79768-4994-4761-B597-A68B7813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A54655-EC79-433B-A62F-05739679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845385-ECEE-401E-A839-69CA37F2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3EC77C-BBCA-4719-937A-A31A4762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3576A3-73D2-49FC-AE35-D1F9850B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891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891FF"/>
                </a:solidFill>
                <a:latin typeface="PingFang SC"/>
                <a:ea typeface="PingFang SC"/>
                <a:cs typeface="PingFang SC"/>
              </a:rPr>
              <a:t>使用守则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B127F0-E8E9-412C-87DC-CD4E8216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好任务说明卡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E1462B-0523-48A2-8551-6EEDAD84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447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目标、上下文、约束、验收标准，决定 AI 是否靠谱。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2944761-CAC1-49E6-8DB8-81AB9929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12DC428-E731-4466-B80C-683D4D85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先计划：复杂任务不要让 AI 直接开干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6CF2D8-57E3-4C5A-9CDA-B32D8C27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41548A5-E0F9-462E-9CB8-C93F7785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小步执行：每一步都要能回滚和检查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9A8F2CE-A786-4323-96A4-43993AC7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2B1753B-A1D4-4924-9E15-9EE190D8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053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看证据：结果必须能被验证，而不是听起来很对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B1C8F65-A546-46E8-BE0E-85052068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162050"/>
            <a:ext cx="60388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4902"/>
            </a:srgbClr>
          </a:solidFill>
          <a:ln xmlns:a="http://schemas.openxmlformats.org/drawingml/2006/main"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fb09b9520d461c"/>
          <a:stretch xmlns:a="http://schemas.openxmlformats.org/drawingml/2006/main"/>
        </p:blipFill>
        <p:spPr>
          <a:xfrm xmlns:a="http://schemas.openxmlformats.org/drawingml/2006/main">
            <a:off x="5391150" y="1280517"/>
            <a:ext cx="5810250" cy="326826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782724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030f14e3b4c2f">
            <a:extLst>
              <a:ext uri="{96DAC541-7B7A-43D3-8B79-37D633B846F1}">
                <asvg:svgBlip xmlns:asvg="http://schemas.microsoft.com/office/drawing/2016/SVG/main" r:embed="R2ae6e8d7728a466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7FBC5-8969-42B3-A526-FF0FE15A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4C75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4C759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0422CE-16DF-4FB2-96BB-44AE54D7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"/>
            <a:ext cx="4000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B8A3BE-9C4A-4E01-8747-187CCB0E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3375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rPr>
              <a:t>Closing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882ADB-6A8C-4DBA-B9A9-838E53B3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CDE267-BB17-4DF0-B34E-E6202723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1C02D5-B9C8-4E71-95B2-FE4499A9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E6FBC1-F5C4-429F-B7DD-E15DDEFE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D6C998-A322-41D0-97D5-4118879A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8470CF-078E-4DC4-8B09-FFB87962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483872-2793-4381-BC91-20134428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B6BE51-7431-4EA3-9103-A6D727CB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F72652-C2A4-4E09-8523-1F342C21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509C90-487C-476C-845C-4CBD112C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496838-8851-4A75-829F-AC0351F5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6B7430-54B3-4725-BE0B-82788BED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6EF810-1AE2-4EE9-9489-B77FBD2E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5AE813-C2AC-468D-AD9D-4BE87E72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E70BA2-7F17-4F0C-9C18-7928FE16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BA701A-F581-4109-85CA-1206CE09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1119CF-7DD7-4AD1-8A23-8C12589E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9F6A5B-895F-486F-92C4-CF938033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672013-B768-44FD-B7D1-9B6968EA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290183-BBE6-466B-AA63-7F1CF208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F434D9-9B09-4AFE-9AB9-BA3A48F1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9AE6ED-1D6F-4140-A59B-E9808067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59BE7E-7654-426A-8B9E-1D55EF1D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1A33A0-04C1-41EA-B581-A2F614BC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55CD97-D0D9-48A5-BFA7-953DB02B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5568E2-B112-48DD-81A7-0990367F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B4391A-4722-497E-B4DD-81CDE6B8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EAB4FE-B880-4421-8A39-8A9BEE4F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FFF8E4-7281-48F2-8E26-A4328304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6B3706-E15B-498C-9BE4-B1D8F445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DA01E8-472A-4F02-AA21-AC49EAC4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C22F01-A577-45F1-ACBE-C685E9FF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02B64E-B5A1-431C-958B-4AB904CB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C75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4C759"/>
                </a:solidFill>
                <a:latin typeface="PingFang SC"/>
                <a:ea typeface="PingFang SC"/>
                <a:cs typeface="PingFang SC"/>
              </a:rPr>
              <a:t>Q&amp;A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BEDE4E-71A2-43E6-9BBF-B5C1EA43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下次遇到 AI 工具，先问三个问题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FBBEDA-127A-422E-B357-AFE5924C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447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省什么时间？给什么上下文？怎么验证？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9CC784-3337-46A0-98FF-B044800B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A1D168-D914-4029-865C-3030EE24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它替我省掉哪段重复劳动？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F21AC61-B3C2-4179-9EF4-5D139623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D569F60-5F5D-48FA-996E-73945003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我能给它什么资料和约束？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1C1B592-DC6E-4E0A-9921-D26F77D4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F3BCDF-3D2D-4160-9726-3FB51DB1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053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DCE6"/>
                </a:solidFill>
                <a:latin typeface="PingFang SC"/>
                <a:ea typeface="PingFang SC"/>
                <a:cs typeface="PingFang SC"/>
              </a:rPr>
              <a:t>结果如何核验、如何回滚、如何复用？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D002D69-4C3B-4BF1-880C-60789E90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619250"/>
            <a:ext cx="4095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4C759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34C759"/>
                </a:solidFill>
                <a:latin typeface="PingFang SC"/>
                <a:ea typeface="PingFang SC"/>
                <a:cs typeface="PingFang SC"/>
              </a:rPr>
              <a:t>省什么时间？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4B9BE56-D41B-4E1E-9FB2-9FFB647F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57500"/>
            <a:ext cx="4095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给什么上下文？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5CB0A40-633B-4412-A3E4-B7781811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095750"/>
            <a:ext cx="4095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4C759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34C759"/>
                </a:solidFill>
                <a:latin typeface="PingFang SC"/>
                <a:ea typeface="PingFang SC"/>
                <a:cs typeface="PingFang SC"/>
              </a:rPr>
              <a:t>怎么验证？</a:t>
            </a:r>
          </a:p>
        </p:txBody>
      </p:sp>
    </p:spTree>
    <p:extLst>
      <p:ext uri="{BB962C8B-B14F-4D97-AF65-F5344CB8AC3E}">
        <p14:creationId xmlns:p14="http://schemas.microsoft.com/office/powerpoint/2010/main" val="414743973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5131736da54899">
            <a:extLst>
              <a:ext uri="{96DAC541-7B7A-43D3-8B79-37D633B846F1}">
                <asvg:svgBlip xmlns:asvg="http://schemas.microsoft.com/office/drawing/2016/SVG/main" r:embed="R67deb1afc22f4b0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295DA-E737-4156-9E67-94A0148C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E7480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CB4FC1-D27E-4EC3-AFF0-D1B0BCAF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"/>
            <a:ext cx="4000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35C2A-7248-4EBC-9883-E04A6384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3375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rPr>
              <a:t>Appendix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FA1A9F-0836-4100-81BF-8D40A512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2B958-9307-4D96-846E-3B699DC6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59FE9F-8D80-4394-B46B-81AB3938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B51ABF-0995-4645-94FC-C22000A9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F53BA4-B107-4604-A4A7-10FC3B1F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7B87A9-4CAB-41CC-A357-FB139165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3D46B5-21C3-4D4C-BDF7-FC2D2897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F74770-327C-43AC-AFE2-AD4FDEE1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7C6217-9A43-4E9E-B872-2AD2D8BD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143D18-D8E6-46DE-A61A-5F429405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6E35AE-5D9F-4546-AF3A-DABCBBF1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FBEB71-6626-4ABC-A3E4-B03EDBBA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59854D-3A36-464D-BDE7-06ECD650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BAFD0C-AD8B-4A7C-AF06-655D9F21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61D3E9-F40B-4EDA-9C76-2F285113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F5C453-5F68-492B-B241-9A418E71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B724A5-651A-4F01-94EE-8E3AB15F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4758C5-47CB-4B2B-A1DB-ED398627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3463FC-0BE8-40F0-A432-3FEB6A2D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17DE5B-45A0-4015-9C8B-60F0A1A0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F32D99-7948-4209-B34D-71703BF7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4CBF86-AB2E-49CC-AEC9-F7DC4ADA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F9D3EE-1AD1-46C2-B51F-D69C8E5A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21FB54-86EA-4FB0-B066-D7EEF4CC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1BFA57-F65A-4C02-8330-28032584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A98392-1C43-4F19-986F-DE21CAEA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380EA4-9569-4372-92D1-49A84368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62553E-6E8E-41BA-9F2F-F711E1E8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623239-4FD8-4F0C-B250-8819BE40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0C065B-EBBD-4F02-B264-D9639F16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924459-D43B-4A71-A3B8-7224A5B5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59A4F5-9E70-4F19-A3DD-6B88F566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99B4B5-DCC2-4569-8AC1-5E6D9589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47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附录 A1：AI 黑话速查表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1B1F79-8DD5-4208-AE59-5900C453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219200"/>
            <a:ext cx="9372600" cy="537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4902"/>
            </a:srgbClr>
          </a:solidFill>
          <a:ln xmlns:a="http://schemas.openxmlformats.org/drawingml/2006/main"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8ee82603ab4f8a"/>
          <a:stretch xmlns:a="http://schemas.openxmlformats.org/drawingml/2006/main"/>
        </p:blipFill>
        <p:spPr>
          <a:xfrm xmlns:a="http://schemas.openxmlformats.org/drawingml/2006/main">
            <a:off x="1524000" y="133350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27010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9f8c51aded4aa7">
            <a:extLst>
              <a:ext uri="{96DAC541-7B7A-43D3-8B79-37D633B846F1}">
                <asvg:svgBlip xmlns:asvg="http://schemas.microsoft.com/office/drawing/2016/SVG/main" r:embed="Rf46a2e7b1d734ca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DB3932-EE96-4382-86AC-60CD7F4A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E7480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D71C64-7AD5-4FD6-BA75-F707C94F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"/>
            <a:ext cx="4000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B7DAB7-54A9-4AF9-A8DE-6AF0F151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3375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rPr>
              <a:t>Appendix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8A2E66-5058-4527-A5FE-273F50E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CA4A54-EBA0-413D-810E-934B7997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6AFDD2-FF01-4F91-BA2D-CBEDACDC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E19A82-CBFD-47D3-9A81-52680037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5C02D1-0908-4ED2-A1DF-B0B9537C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BA15EC-2F7C-4BC4-8277-E54CF5CD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70C3F6-E2E9-4848-9A7A-1520C7D3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3A250D-7D81-457F-97C7-65B5897D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B0B640-0FF4-40D6-93D7-18454F28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59C463-2251-4B4C-8DA8-DEB94D9E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62A3CF-AF3A-4034-B73C-4D5145A3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D9A0E9-8125-494B-8744-D9AD7653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B7D35E-D9B4-4F6D-BEFF-27B527D6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CDFBCB-3C9C-40B7-ABCB-4532F7A6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495B76-ACA2-4A53-8303-E63159F9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60C6BF-BD64-4FE3-BDD2-38F6669C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E1182F-14BB-4FFE-BAC5-DDE2AF72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0AE164-4D96-4479-8B60-175D263D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BBF462-7475-42FD-8A69-0C67EA79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2E072C-A016-4645-98FA-6B69615E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1EF4B6-D129-4B78-B8BF-C4D7D5E1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05EB11-8534-468C-A82E-93A441DE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C4E33D-4F2E-4612-A68D-C53B10F8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4FD60A-1AFA-4E30-882E-303D0156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2A9715-F265-4BAD-8C26-B1A5C2DC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5D4207-B024-4D82-83F7-4A9E41E0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EBAF6C-0210-41BE-9AAB-11DAC955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AC3FD7-6D8E-4FFC-A426-434F8A16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E9E5C8-A532-4031-8BF4-C4024B73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5322DE-7C91-436C-941C-35675E84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4B88E9-9AF4-44BF-93DD-70FAFFE3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A4E4B1-2D2B-4342-85D8-2ECF9B34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E8F5CD-3582-4AD6-BA3E-1C09082C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47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附录 A2：常见 AI 工具清单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05D220-CFED-4F88-BB49-6F6C746E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219200"/>
            <a:ext cx="9372600" cy="537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4902"/>
            </a:srgbClr>
          </a:solidFill>
          <a:ln xmlns:a="http://schemas.openxmlformats.org/drawingml/2006/main"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e0eb825c614a03"/>
          <a:stretch xmlns:a="http://schemas.openxmlformats.org/drawingml/2006/main"/>
        </p:blipFill>
        <p:spPr>
          <a:xfrm xmlns:a="http://schemas.openxmlformats.org/drawingml/2006/main">
            <a:off x="1524000" y="133350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863836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f218b101cb43c7">
            <a:extLst>
              <a:ext uri="{96DAC541-7B7A-43D3-8B79-37D633B846F1}">
                <asvg:svgBlip xmlns:asvg="http://schemas.microsoft.com/office/drawing/2016/SVG/main" r:embed="Rc2093d83d8d2443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E97061-D4C3-4A50-8FDA-9973FDF1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E7480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9158C4-A65B-4A3F-9E97-3F5967C4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"/>
            <a:ext cx="4000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E8A07C-9A95-40DB-A0AC-E9BF767A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3375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rPr>
              <a:t>Appendix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1B227-3AD2-4621-B7E8-4285D14E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BF0409-2C1E-4C75-AB77-44882B94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D80AD3-6AC2-47A4-A26F-B091849A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10D9EE-3BDE-4CEF-8661-F230AF8B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A942BF-6CEE-4D6A-863F-2FF774CA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32688B-6CC7-44D3-A058-9DD1F488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CC4FCB-7DB6-485D-87A9-D587F8CC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9845B2-8B38-4167-BEAA-2CCDA76A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775520-FE42-4A19-8312-E1583B58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9D7AB2-5539-4D57-9E6C-10EA7340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85FEAF-696F-4EA6-A5DD-79C037B6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6E9625-384B-447A-8772-D16455D3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F35330-B326-41C7-ADA5-7144B600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83DF85-9B54-4B99-A403-739FFBC2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33DE55-3AE0-4A3B-956C-96196BC9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997A82-53A6-4A97-B2E5-D712921F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6F282B-FCFA-4FB2-BDAE-DC94F397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3714B4-1D8F-48B3-85AA-8BEA888D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E9B384-2676-460F-972B-20394D8F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F4ED82-65C6-4492-9199-B097EA05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7EFDEC-6203-4077-BF98-E8816D56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6BE899-B11F-4C4E-87DA-95EFF126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1E7C82-2099-4E7B-A981-3999EC5F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9CDC69-B838-4FE2-82DD-5FA9D7F8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C55B55-8E5E-47D4-BCC8-2429B253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F0C8A3-AFC7-4619-A781-691C46C9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142583-737C-400E-B293-EBB5EA39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3F0D1E-5C9A-43D6-BD8D-5FCFA708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D1B9E4-EE6D-46BD-AF09-14225634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38313A-3E02-4809-B7DF-0269735B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DEE2DF-4A21-473F-AF50-71BCB4A4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EC8113-7854-4E95-89DA-2EFD87E5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512B4E-0ABB-45A2-B005-7802F867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47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附录 A3：Prompt 模板合集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7C6480-DFEA-43C1-BD56-855E120F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219200"/>
            <a:ext cx="9372600" cy="537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4902"/>
            </a:srgbClr>
          </a:solidFill>
          <a:ln xmlns:a="http://schemas.openxmlformats.org/drawingml/2006/main"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9489661e6b430d"/>
          <a:stretch xmlns:a="http://schemas.openxmlformats.org/drawingml/2006/main"/>
        </p:blipFill>
        <p:spPr>
          <a:xfrm xmlns:a="http://schemas.openxmlformats.org/drawingml/2006/main">
            <a:off x="1524000" y="133350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997137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116a7211144591">
            <a:extLst>
              <a:ext uri="{96DAC541-7B7A-43D3-8B79-37D633B846F1}">
                <asvg:svgBlip xmlns:asvg="http://schemas.microsoft.com/office/drawing/2016/SVG/main" r:embed="Rfbd86fd84ec24c9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74F1CC-8295-4B9B-970E-7D50F668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E7480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EC0BC-A54E-4626-A49A-C4E14C61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"/>
            <a:ext cx="4000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FF87C-90F3-4276-A1C5-C96617B4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3375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rPr>
              <a:t>Appendix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35C423-51FF-4A86-A30C-228D79EE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F18903-90FD-4FE9-BBEE-462367CC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7BEAAF-CDDE-43F3-B449-A586F207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963388-5AE0-4F20-9064-96169EDF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6DF1DF-1C6A-4BC6-BAEB-5FC7699F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BE81EF-6F17-45D0-B803-4BFD53DF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78A96-6FA4-4DBB-AF11-0F5CD4A8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48F32D-E3F6-4DA1-9AEB-341FEA74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656967-037B-4220-8D57-E8A85973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FFC55C-97A9-4BFB-84A7-9E4819C5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C53C18-4A92-4092-AA2F-3139616C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50EF4B-F834-4C37-B98C-65B0286B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E27A10-3577-4CEB-A578-05D3F9BB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D83CFB-4E61-42B1-A8EB-254DFF3E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1BBFA4-F113-46DC-9B3C-30D7DAA8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5C1A51-DB3C-4984-B542-C987EAAA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71CC95-098F-4BE9-817A-D7413BC4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4DA339-4F38-48E5-8B36-E8C8FA2B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262382-7D63-47C0-B6C8-42FDF904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DA0113-43E4-4437-B295-B7F39CB0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EB3A5E-AE06-49B4-8A04-AB7D1CA6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544D07-B718-4F85-82AE-4ECDB5A4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C6DF83-356B-45E5-85E1-10F78675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CAB035-CCC4-4118-98BD-0D780645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10A9EF-08D5-4F3A-82AE-7B96F6FA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E490E5-652E-44EA-A251-A8B9498D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1AE580-0AB6-4B7E-A31B-306E3224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057A7E-16D7-4F82-9DCA-65D0589B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3AB32A-176A-43B7-9CCE-B349F907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AD1AF6-7E50-4DEC-9CB3-47FBC902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1E09BA-D3EE-4451-BE91-04A1108C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711335-A070-4E93-8EA2-37A70CA7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C185E05-6323-48F1-A64F-F3BA6C77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47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附录 A4：Agent 工作流模板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FE19FC-E2AF-4E65-8C84-15BA01FE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219200"/>
            <a:ext cx="9372600" cy="537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4902"/>
            </a:srgbClr>
          </a:solidFill>
          <a:ln xmlns:a="http://schemas.openxmlformats.org/drawingml/2006/main"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a8fb8408be4f2e"/>
          <a:stretch xmlns:a="http://schemas.openxmlformats.org/drawingml/2006/main"/>
        </p:blipFill>
        <p:spPr>
          <a:xfrm xmlns:a="http://schemas.openxmlformats.org/drawingml/2006/main">
            <a:off x="1524000" y="133350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478750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21accd368a48b1">
            <a:extLst>
              <a:ext uri="{96DAC541-7B7A-43D3-8B79-37D633B846F1}">
                <asvg:svgBlip xmlns:asvg="http://schemas.microsoft.com/office/drawing/2016/SVG/main" r:embed="Ra13f7e579cd44dc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35ACCE-6D13-4A81-9089-3D111D0C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E7480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06A1B-0D0A-42E3-9674-CD0F6977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"/>
            <a:ext cx="4000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9CF88C-C133-4893-92A2-B68C2438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3375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1A1AA"/>
                </a:solidFill>
                <a:latin typeface="PingFang SC"/>
                <a:ea typeface="PingFang SC"/>
                <a:cs typeface="PingFang SC"/>
              </a:rPr>
              <a:t>Appendix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672A64-CEEC-49DC-83E1-1DCDB832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0D460E-71EF-4032-9E3F-1784BF02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F47E01-FD1B-4A22-AC0A-C89A8612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07C9E7-5A6A-43DE-B59C-55A4C02F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3AE6FD-1C7B-4ECA-934F-F66286AC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E70763-0B65-4B17-8E19-B3B5CCAE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96EC06-5880-47BD-BD4C-BC2702CC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481A64-79FE-47CA-92E6-D828A0D2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690F1D-185E-411B-9997-3DDC3EFE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88196E-4C76-4B96-9D1A-3A844EE8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5CF8F1-722E-40AB-A3A3-985FBC29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7446F0-FCE1-4DEE-A6F6-E0F95E65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2C48C9-6404-44FE-AF29-16CE469F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07E1FE-C10F-47A2-8FB4-93BA7BD2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FD3E35-294B-4916-978D-42011F28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927AFC-DA2D-4D55-9BEA-C2806B00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AAD29A-30B6-47CA-96CA-48AF061D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BA7769-4E32-4AA2-9DE9-513B5172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89B785-FC36-49A1-BBD0-F93F3FCA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B06D40-CB2E-425A-A6C5-CCE7466A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3A4AE3-0FCE-41B9-852F-35F6D473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3DB1E3-A4CD-4FF8-A3EF-5AF4C1C6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8E80F6-49A0-4965-A5AF-AF9226A9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6A6937-B624-43EF-A76C-4A332752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58D525-B7F6-41AB-B5CE-3D168717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E7245C-5C8F-4F1A-A301-4206644B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F0D169-7944-4097-96DC-2B07EB5D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0E3CA6-2DF5-4590-8361-B2BCA4E5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0AB3A8-3414-4AF4-8B15-509DC8D1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64B4A6-37D0-4281-8E99-6E576C53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19B87C-4222-420E-B109-197D3CAB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89CE64-9B38-49A4-A4B3-8B823B8E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4191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105DD1-7CDE-4778-8137-96B9F1F9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47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5F5F7"/>
                </a:solidFill>
                <a:latin typeface="PingFang SC"/>
                <a:ea typeface="PingFang SC"/>
                <a:cs typeface="PingFang SC"/>
              </a:rPr>
              <a:t>附录 A5：AI 使用风险清单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8D651B-AF41-4B3C-88AD-60C90010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219200"/>
            <a:ext cx="9372600" cy="537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4902"/>
            </a:srgbClr>
          </a:solidFill>
          <a:ln xmlns:a="http://schemas.openxmlformats.org/drawingml/2006/main"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5b70456ff047f5"/>
          <a:stretch xmlns:a="http://schemas.openxmlformats.org/drawingml/2006/main"/>
        </p:blipFill>
        <p:spPr>
          <a:xfrm xmlns:a="http://schemas.openxmlformats.org/drawingml/2006/main">
            <a:off x="1524000" y="133350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5660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2026-05-30T16:25:10.1450000Z</dcterms:created>
  <dcterms:modified xsi:type="dcterms:W3CDTF">2026-05-30T16:25:10.1450000Z</dcterms:modified>
</coreProperties>
</file>